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s. No voy a mostrar un juego. Voy a mostrar tres problemas técnicos del TP1,</a:t>
            </a:r>
          </a:p>
          <a:p>
            <a:r>
              <a:t>la solución declarada para cada uno, y la evidencia de que funciona.</a:t>
            </a:r>
          </a:p>
          <a:p/>
          <a:p>
            <a:r>
              <a:t>Tiempo total objetivo: 18-19 minutos, dejando margen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El TP2 no cambia el diagnóstico del TP1: cambia que ahora está implementado y testeado.</a:t>
            </a:r>
          </a:p>
          <a:p/>
          <a:p>
            <a:r>
              <a:t>Si preguntan "¿por qué no un juego completo?": la consigna (§4.1) pide 3 pruebas de concepto</a:t>
            </a:r>
          </a:p>
          <a:p>
            <a:r>
              <a:t>técnicamente pulidas. Agregar contenido no demuestra ninguna propiedad de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s. Esta regla es la base de los tres prototipos.</a:t>
            </a:r>
          </a:p>
          <a:p/>
          <a:p>
            <a:r>
              <a:t>Demo D2 (opcional): escribir using UnityEngine; en un archivo del dominio y mostrar el error.</a:t>
            </a:r>
          </a:p>
          <a:p>
            <a:r>
              <a:t>Plan B: captura del error ya tomada.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Si les doy el mismo objeto a los tres, la UI puede cambiar reglas</a:t>
            </a:r>
          </a:p>
          <a:p>
            <a:r>
              <a:t>y la IA termina escuchando eventos visuales. Ese es el problema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s. Insistir: no es una convención de estilo. Es el tipo del constructor.</a:t>
            </a:r>
          </a:p>
          <a:p/>
          <a:p>
            <a:r>
              <a:t>Si preguntan "¿y si alguien castea?": tendría que romper una capa explícitamente,</a:t>
            </a:r>
          </a:p>
          <a:p>
            <a:r>
              <a:t>y el asmdef lo impide hacia el dominio.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s. Escena real: mapa 12×12 con asteroides y cristales del Kenney Space Kit.</a:t>
            </a:r>
          </a:p>
          <a:p>
            <a:r>
              <a:t>La ruta al destino es de 21 celdas y costo 20; el contador de eventos queda en 4,</a:t>
            </a:r>
          </a:p>
          <a:p>
            <a:r>
              <a:t>que es exactamente la cantidad de obstáculos colocados.</a:t>
            </a:r>
          </a:p>
          <a:p/>
          <a:p>
            <a:r>
              <a:t>Los dos primeros tests usan reflexión: verifican que el contrato de publicación solo</a:t>
            </a:r>
          </a:p>
          <a:p>
            <a:r>
              <a:t>tenga eventos y que el de lectura no tenga mutaciones. Si mañana alguien agrega SetCell</a:t>
            </a:r>
          </a:p>
          <a:p>
            <a:r>
              <a:t>a la interfaz de lectura, el test se pone rojo antes de que llegue a la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ESTA SLIDE ES LA QUE CORRIGE EL MALENTENDIDO DEL TP1. No la saltees.</a:t>
            </a:r>
          </a:p>
          <a:p/>
          <a:p>
            <a:r>
              <a:t>Si el jurado espera "problema 1 = matemática hexagonal" y ve ISP,</a:t>
            </a:r>
          </a:p>
          <a:p>
            <a:r>
              <a:t>sin esta slide parece que me fui del tema. Con esta slide, es una decisión fundamentada.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s. El jugador puede intercalar acciones. El riesgo real es que el tiempo del arte</a:t>
            </a:r>
          </a:p>
          <a:p>
            <a:r>
              <a:t>termine gobernando la regla del juego.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 s. Mirar el orden del diagrama: Validate → Execute → notifica → await.</a:t>
            </a:r>
          </a:p>
          <a:p/>
          <a:p>
            <a:r>
              <a:t>Si el jugador pulsa dos veces, el segundo comando espera en la cola:</a:t>
            </a:r>
          </a:p>
          <a:p>
            <a:r>
              <a:t>no hay estado a medio aplicar.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s. Este es el test que demuestra el desacoplamiento temporal.</a:t>
            </a:r>
          </a:p>
          <a:p/>
          <a:p>
            <a:r>
              <a:t>Pregunta que invita: "¿qué error detectaría?"</a:t>
            </a:r>
          </a:p>
          <a:p>
            <a:r>
              <a:t>→ acoplar la regla al tiempo de la animación, o intercalar dos comandos y corromper el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s. En la escena, ShieldCommand cuesta 2 PA y suma 4 de escudo: el pipeline no cambió.</a:t>
            </a:r>
          </a:p>
          <a:p/>
          <a:p>
            <a:r>
              <a:t>Demo D4: agregar TractorBeamCommand en vivo. Valida PA, mueve la nave enemiga,</a:t>
            </a:r>
          </a:p>
          <a:p>
            <a:r>
              <a:t>y CommandProcessor no cambia una línea.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s. Ese es el diagnóstico en una frase: si el test necesita una escena,</a:t>
            </a:r>
          </a:p>
          <a:p>
            <a:r>
              <a:t>la dependencia está mal 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s. El LifetimeScope es composición: registra catálogo, config y servicio.</a:t>
            </a:r>
          </a:p>
          <a:p>
            <a:r>
              <a:t>LoadoutDemo no busca nada, recibe IEquipmentService por [Inject].</a:t>
            </a:r>
          </a:p>
          <a:p/>
          <a:p>
            <a:r>
              <a:t>Eso es lo que permite testear el servicio sin escena.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s. La escena equipa laser-mk1, lo reemplaza por laser-mk2, suma thruster-mk1 y shield-mk1.</a:t>
            </a:r>
          </a:p>
          <a:p>
            <a:r>
              <a:t>Resultado real: PA 6, escudos 5, movimiento 4, habilidades [beam, barrier].</a:t>
            </a:r>
          </a:p>
          <a:p/>
          <a:p>
            <a:r>
              <a:t>Columna izquierda demuestra DIP: si el catálogo viene de un servidor, el servicio no cambia.</a:t>
            </a:r>
          </a:p>
          <a:p>
            <a:r>
              <a:t>Columna derecha demuestra data-driven: el MK III existe como asset, sin una clase nueva.</a:t>
            </a:r>
          </a:p>
          <a:p/>
          <a:p>
            <a:r>
              <a:t>Demos: D5 (reemplazo MK I → MK II) y D6 (equipar el MK III).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s. 21 en Edit Mode y 1 en Play Mode: 22, corridos y verdes dos veces (antes y después</a:t>
            </a:r>
          </a:p>
          <a:p>
            <a:r>
              <a:t> del rediseño de UI y de los assets).</a:t>
            </a:r>
          </a:p>
          <a:p/>
          <a:p>
            <a:r>
              <a:t>El único Play Mode es P2 porque es el único donde importa que Unity invoque al adaptador.</a:t>
            </a:r>
          </a:p>
          <a:p/>
          <a:p>
            <a:r>
              <a:t>Si preguntan qué detectaría cada uno, la matriz de docs/04 tiene la columna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La consigna dice que excluir un caso necesita justificación (§4.1).</a:t>
            </a:r>
          </a:p>
          <a:p>
            <a:r>
              <a:t>Cada fila tiene por dónde crecer.</a:t>
            </a:r>
          </a:p>
          <a:p/>
          <a:p>
            <a:r>
              <a:t>Ojo: sí hay arte 3D real (modelos del Kenney Space Kit). Lo excluido es la animación</a:t>
            </a:r>
          </a:p>
          <a:p>
            <a:r>
              <a:t>con clips; el movimiento es por 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Esto responde "qué descubriste al implementar", que la consigna pide explícitamente (§4.1).</a:t>
            </a:r>
          </a:p>
          <a:p/>
          <a:p>
            <a:r>
              <a:t>El más útil para contar: el del pivote. Perdí tiempo buscando en la arquitectura algo que</a:t>
            </a:r>
          </a:p>
          <a:p>
            <a:r>
              <a:t>era un problema de importación de assets. Enseña a agotar la hipótesis barata antes.</a:t>
            </a:r>
          </a:p>
          <a:p/>
          <a:p>
            <a:r>
              <a:t>El segundo es el más arquitectónico: una vista que busca referencias por nombre de ruta</a:t>
            </a:r>
          </a:p>
          <a:p>
            <a:r>
              <a:t>no es una vista, es una dependencia oculta. Ahora la fábrica de UI devuelve tipos.</a:t>
            </a:r>
          </a:p>
          <a:p/>
          <a:p>
            <a:r>
              <a:t>Un quinto caso, si preguntan por los tests: una aserción mía estaba mal escrita</a:t>
            </a:r>
          </a:p>
          <a:p>
            <a:r>
              <a:t>(la ruta costaba 3, no 4). Lo detecté corriendo la lógica fuera del editor.</a:t>
            </a:r>
          </a:p>
          <a:p>
            <a:r>
              <a:t>Los tests también pueden estar equivocados; por eso el auditor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s. Con más tiempo, el siguiente paso sería Undo/Redo, porque el pipeline ya lo habilita.</a:t>
            </a:r>
          </a:p>
          <a:p>
            <a:r>
              <a:t>Pero eso es otro prototipo, no una deuda escondida.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usa solo si preguntan "¿los tests detectan defectos reales?".</a:t>
            </a:r>
          </a:p>
          <a:p>
            <a:r>
              <a:t>Revertir siempre con git checkout . antes de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slide responde el punto §4.4 de la consigna (contratos, null, mutabilidad,</a:t>
            </a:r>
          </a:p>
          <a:p>
            <a:r>
              <a:t>transparencia referencial, excepciones).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CLI (com.unity.pipeline) permite recompilar, ejecutar menús, correr tests y capturar</a:t>
            </a:r>
          </a:p>
          <a:p>
            <a:r>
              <a:t>el game view con el editor abierto. Es lo que se usó para verificar cada cambio de esta entrega.</a:t>
            </a:r>
          </a:p>
          <a:p/>
          <a:p>
            <a:r>
              <a:t>Si preguntan por batchmode: también existe, pero requiere el proyecto sin lock, es decir</a:t>
            </a:r>
          </a:p>
          <a:p>
            <a:r>
              <a:t>el editor cerrado. El CLI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D4BF"/>
                </a:solidFill>
                <a:latin typeface="Segoe UI"/>
              </a:rPr>
              <a:t>PROGRAMACIÓN DE VIDEOJUEGOS III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8FAFC"/>
                </a:solidFill>
                <a:latin typeface="Segoe UI"/>
              </a:rPr>
              <a:t>Tres decisiones de arquitectura,
verificadas con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46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A78BFA"/>
                </a:solidFill>
                <a:latin typeface="Segoe UI"/>
              </a:rPr>
              <a:t>Void Hex Tactics · TP2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160520"/>
            <a:ext cx="3493008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651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42976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FAFC"/>
                </a:solidFill>
                <a:latin typeface="Consolas"/>
              </a:rPr>
              <a:t>P1_GridState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6177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DD4BF"/>
                </a:solidFill>
                <a:latin typeface="Segoe UI"/>
              </a:rPr>
              <a:t>ISP + Observer · 5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4160520"/>
            <a:ext cx="3493008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80559" y="42976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FAFC"/>
                </a:solidFill>
                <a:latin typeface="Consolas"/>
              </a:rPr>
              <a:t>P2_CommandPipeline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46177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Pipeline async · 8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5" y="4160520"/>
            <a:ext cx="3493008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93023" y="42976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FAFC"/>
                </a:solidFill>
                <a:latin typeface="Consolas"/>
              </a:rPr>
              <a:t>P3_Loadout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46177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DI + Data-driven · 9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Matias Andres Fahler   ·   Unity 6000.5.9f1   ·   tag tp2   ·   22 tests verdes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2/21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DD4BF"/>
                </a:solidFill>
                <a:latin typeface="Segoe UI"/>
              </a:rPr>
              <a:t>QUÉ ENTREGO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No es un juego: son tres decisiones verificables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4699581" cy="713232"/>
          </a:xfrm>
          <a:prstGeom prst="rect">
            <a:avLst/>
          </a:prstGeom>
          <a:solidFill>
            <a:srgbClr val="24334A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837943"/>
            <a:ext cx="444354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Desafío declarado en el TP1</a:t>
            </a:r>
          </a:p>
        </p:txBody>
      </p:sp>
      <p:sp>
        <p:nvSpPr>
          <p:cNvPr id="8" name="Rectangle 7"/>
          <p:cNvSpPr/>
          <p:nvPr/>
        </p:nvSpPr>
        <p:spPr>
          <a:xfrm>
            <a:off x="5266509" y="1783080"/>
            <a:ext cx="3593797" cy="713232"/>
          </a:xfrm>
          <a:prstGeom prst="rect">
            <a:avLst/>
          </a:prstGeom>
          <a:solidFill>
            <a:srgbClr val="24334A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525" y="1837943"/>
            <a:ext cx="333776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Solución declarada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0307" y="1783080"/>
            <a:ext cx="2764459" cy="713232"/>
          </a:xfrm>
          <a:prstGeom prst="rect">
            <a:avLst/>
          </a:prstGeom>
          <a:solidFill>
            <a:srgbClr val="24334A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8323" y="1837943"/>
            <a:ext cx="250842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Prototipo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96312"/>
            <a:ext cx="4699581" cy="71323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551176"/>
            <a:ext cx="444354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Exponer el mapa sin God Object ni polling en Update()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66509" y="2496312"/>
            <a:ext cx="3593797" cy="71323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525" y="2551176"/>
            <a:ext cx="333776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ISP + Observer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0307" y="2496312"/>
            <a:ext cx="2764459" cy="71323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323" y="2551176"/>
            <a:ext cx="250842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P1_GridState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209544"/>
            <a:ext cx="4699581" cy="71323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264408"/>
            <a:ext cx="444354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Alternar PA con animaciones asíncronas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6509" y="3209544"/>
            <a:ext cx="3593797" cy="71323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525" y="3264408"/>
            <a:ext cx="333776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Pipeline ICommand + async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0307" y="3209544"/>
            <a:ext cx="2764459" cy="71323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8323" y="3264408"/>
            <a:ext cx="250842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P2_CommandPipeline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922776"/>
            <a:ext cx="4699581" cy="71323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977639"/>
            <a:ext cx="444354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Servicios sin singletons + módulos MK I–III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66509" y="3922776"/>
            <a:ext cx="3593797" cy="71323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525" y="3977639"/>
            <a:ext cx="333776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VContainer + ScriptableObjects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0307" y="3922776"/>
            <a:ext cx="2764459" cy="71323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88323" y="3977639"/>
            <a:ext cx="250842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P3_Loadout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75488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Una escena real por prototipo, con modelos 3D (Kenney CC0) y UI nativa: se puede jugar la prueba.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La consigna pide 3 pruebas de concepto pulidas, no un juego completo.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3/21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REGLA DE DEPENDENCIA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F8FAFC"/>
                </a:solidFill>
                <a:latin typeface="Segoe UI"/>
              </a:rPr>
              <a:t>La arquitectura la impone el compilador, no la disciplina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66113" y="1828800"/>
            <a:ext cx="2607868" cy="8412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66113" y="1975104"/>
            <a:ext cx="26078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DD4BF"/>
                </a:solidFill>
                <a:latin typeface="Segoe UI"/>
              </a:rPr>
              <a:t>Presentación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6113" y="2286000"/>
            <a:ext cx="26078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MonoBehaviour · VContainer · Assets SO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0048" y="2715768"/>
            <a:ext cx="0" cy="292608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66113" y="3054096"/>
            <a:ext cx="2607868" cy="8412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66113" y="3200400"/>
            <a:ext cx="26078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A78BFA"/>
                </a:solidFill>
                <a:latin typeface="Segoe UI"/>
              </a:rPr>
              <a:t>Aplicación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6113" y="3511296"/>
            <a:ext cx="26078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Pipeline · Servicio de equipamiento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941063"/>
            <a:ext cx="0" cy="292609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66113" y="4279392"/>
            <a:ext cx="2607868" cy="8412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66113" y="4425696"/>
            <a:ext cx="26078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BBF24"/>
                </a:solidFill>
                <a:latin typeface="Segoe UI"/>
              </a:rPr>
              <a:t>Dominio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6113" y="4736592"/>
            <a:ext cx="26078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Reglas · Contratos · Cálculo puro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1828800"/>
            <a:ext cx="5120640" cy="2231136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751576" y="2029968"/>
            <a:ext cx="4681727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A78BFA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300" b="0" i="0">
                <a:solidFill>
                  <a:srgbClr val="A78BFA"/>
                </a:solidFill>
                <a:latin typeface="Consolas"/>
              </a:rPr>
              <a:t>  "name": "VoidHex.P2.Domain",</a:t>
            </a:r>
          </a:p>
          <a:p>
            <a:pPr>
              <a:lnSpc>
                <a:spcPct val="100000"/>
              </a:lnSpc>
            </a:pPr>
            <a:r>
              <a:rPr sz="1300" b="0" i="0">
                <a:solidFill>
                  <a:srgbClr val="A78BFA"/>
                </a:solidFill>
                <a:latin typeface="Consolas"/>
              </a:rPr>
              <a:t>  "references": [],</a:t>
            </a:r>
          </a:p>
          <a:p>
            <a:pPr>
              <a:lnSpc>
                <a:spcPct val="100000"/>
              </a:lnSpc>
            </a:pPr>
            <a:r>
              <a:rPr sz="1300" b="0" i="0">
                <a:solidFill>
                  <a:srgbClr val="A78BFA"/>
                </a:solidFill>
                <a:latin typeface="Consolas"/>
              </a:rPr>
              <a:t>  "noEngineReferences": true</a:t>
            </a:r>
          </a:p>
          <a:p>
            <a:pPr>
              <a:lnSpc>
                <a:spcPct val="100000"/>
              </a:lnSpc>
            </a:pPr>
            <a:r>
              <a:rPr sz="1300" b="0" i="0">
                <a:solidFill>
                  <a:srgbClr val="A78BFA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00" b="0" i="0">
                <a:solidFill>
                  <a:srgbClr val="A78BFA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onsolas"/>
              </a:rPr>
              <a:t>// using UnityEngine;  →  no compila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11480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Podría prometer que el dominio es independiente del motor.
Mejor: lo demuestro rompiendo una línea en vivo.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Si alguien agrega using UnityEngine en el dominio, el proyecto no compila. Sin excepciones.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4/21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DD4BF"/>
                </a:solidFill>
                <a:latin typeface="Segoe UI"/>
              </a:rPr>
              <a:t>P1 · DESAFÍO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Exponer el mapa sin God Object ni polling en Update()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4102101" cy="658368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837943"/>
            <a:ext cx="384606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Lo que NO quiero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9029" y="1783080"/>
            <a:ext cx="6955737" cy="658368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97045" y="1837943"/>
            <a:ext cx="669970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Por qué es un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41448"/>
            <a:ext cx="4102101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496312"/>
            <a:ext cx="384606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Un GridManager que sabe todo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9029" y="2441448"/>
            <a:ext cx="6955737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7045" y="2496312"/>
            <a:ext cx="669970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God Object: nadie sabe quién muta el estado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99815"/>
            <a:ext cx="4102101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154679"/>
            <a:ext cx="384606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Update() consultando el mapa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9029" y="3099815"/>
            <a:ext cx="6955737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045" y="3154679"/>
            <a:ext cx="669970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CPU por frame y acoplamiento al motor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58184"/>
            <a:ext cx="4102101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813048"/>
            <a:ext cx="384606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Un Event Bus global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9029" y="3758184"/>
            <a:ext cx="6955737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7045" y="3813048"/>
            <a:ext cx="669970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Dependencias ocultas, imposible de depurar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8056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BD5E1"/>
                </a:solidFill>
                <a:latin typeface="Segoe UI"/>
              </a:rPr>
              <a:t>Tres consumidores, tres necesidades:
la IA lee · los comandos validan · la UI dibuja.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5/21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DD4BF"/>
                </a:solidFill>
                <a:latin typeface="Segoe UI"/>
              </a:rPr>
              <a:t>P1 ·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F8FAFC"/>
                </a:solidFill>
                <a:latin typeface="Segoe UI"/>
              </a:rPr>
              <a:t>Dos contratos: ningún consumidor puede hacer lo del otro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44287" y="2912364"/>
            <a:ext cx="2103120" cy="804672"/>
          </a:xfrm>
          <a:prstGeom prst="roundRect">
            <a:avLst>
              <a:gd name="adj" fmla="val 10000"/>
            </a:avLst>
          </a:prstGeom>
          <a:solidFill>
            <a:srgbClr val="24334A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44287" y="2985516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Segoe UI"/>
              </a:rPr>
              <a:t>GridModel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4287" y="33147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único dueño del estado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2880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1938528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IGridQueryService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24028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lectura síncrona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93047" y="182880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21063" y="1938528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IGridStatePublisher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1063" y="224028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eventos C#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950208"/>
            <a:ext cx="2286000" cy="777240"/>
          </a:xfrm>
          <a:prstGeom prst="roundRect">
            <a:avLst>
              <a:gd name="adj" fmla="val 6000"/>
            </a:avLst>
          </a:prstGeom>
          <a:solidFill>
            <a:srgbClr val="142B2E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" y="4059936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D4BF"/>
                </a:solidFill>
                <a:latin typeface="Segoe UI"/>
              </a:rPr>
              <a:t>Pathfinding /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352544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no puede mutar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3047" y="3950208"/>
            <a:ext cx="2286000" cy="777240"/>
          </a:xfrm>
          <a:prstGeom prst="roundRect">
            <a:avLst>
              <a:gd name="adj" fmla="val 6000"/>
            </a:avLst>
          </a:prstGeom>
          <a:solidFill>
            <a:srgbClr val="142B2E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421063" y="4059936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D4BF"/>
                </a:solidFill>
                <a:latin typeface="Segoe UI"/>
              </a:rPr>
              <a:t>GridPresenter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1063" y="4352544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no puede alterar reglas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755648" y="2752344"/>
            <a:ext cx="0" cy="1179576"/>
          </a:xfrm>
          <a:prstGeom prst="line">
            <a:avLst/>
          </a:prstGeom>
          <a:ln w="1587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436047" y="2752344"/>
            <a:ext cx="0" cy="1179576"/>
          </a:xfrm>
          <a:prstGeom prst="line">
            <a:avLst/>
          </a:prstGeom>
          <a:ln w="1587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916936" y="3314700"/>
            <a:ext cx="2127351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47407" y="3314700"/>
            <a:ext cx="212735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507492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Solo GridModel muta, y esos métodos no están en ningún contrato: es el tipo del constructor, no una convención.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El Pathfinder recibe IGridQueryService. Aunque quisiera, no puede escribir el mapa.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6/21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DD4BF"/>
                </a:solidFill>
                <a:latin typeface="Segoe UI"/>
              </a:rPr>
              <a:t>P1 ·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Reactivo de verdad: sin mutación real, no hay trabajo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493008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ADE80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evento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889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por cada mutación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783080"/>
            <a:ext cx="3493008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17136" y="184708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8FAFC"/>
                </a:solidFill>
                <a:latin typeface="Segoe U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eventos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7889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al reescribir el mismo valor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5" y="1783080"/>
            <a:ext cx="3493008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9" y="184708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redibujos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7889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en un mapa 12×12 con 4 obstáculos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611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611880"/>
            <a:ext cx="10692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Consolas"/>
              </a:rPr>
              <a:t>IGridStatePublisher_ExposesOnlyEvents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01421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014216"/>
            <a:ext cx="10692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Consolas"/>
              </a:rPr>
              <a:t>IGridQueryService_ExposesNoMutatingMembers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165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416552"/>
            <a:ext cx="10692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Consolas"/>
              </a:rPr>
              <a:t>SetCell_WithSameValue_DoesNotRaiseChange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Los dos primeros no prueban comportamiento: prueban forma, por reflexión.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7/21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DD4BF"/>
                </a:solidFill>
                <a:latin typeface="Segoe UI"/>
              </a:rPr>
              <a:t>P1 ·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El A* es el sustrato, no la tesis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BD5E1"/>
                </a:solidFill>
                <a:latin typeface="Segoe UI"/>
              </a:rPr>
              <a:t>El informe largo del TP1 desarrolla grilla y pathfinding; el desafío declarado es la exposición del estado.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788920"/>
            <a:ext cx="3200953" cy="566928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843784"/>
            <a:ext cx="294492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Fuera de alcance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7881" y="2788920"/>
            <a:ext cx="7856885" cy="566928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5897" y="2843784"/>
            <a:ext cx="760085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Justificación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55848"/>
            <a:ext cx="3200953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410712"/>
            <a:ext cx="294492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Mapas 3D multicapa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7881" y="3355848"/>
            <a:ext cx="7856885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897" y="3410712"/>
            <a:ext cx="760085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El desafío es de exposición de estado, no de geometría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22776"/>
            <a:ext cx="3200953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977639"/>
            <a:ext cx="294492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Niebla de guerra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67881" y="3922776"/>
            <a:ext cx="7856885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5897" y="3977639"/>
            <a:ext cx="760085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Es un sistema de conocimiento, ajeno a la exposición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89704"/>
            <a:ext cx="3200953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544568"/>
            <a:ext cx="294492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Unidades como bloqueos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7881" y="4489704"/>
            <a:ext cx="7856885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5897" y="4544568"/>
            <a:ext cx="760085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Necesita el modelo de turnos, que es P2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056631"/>
            <a:ext cx="3200953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5111495"/>
            <a:ext cx="294492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Event Bus global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67881" y="5056631"/>
            <a:ext cx="7856885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95897" y="5111495"/>
            <a:ext cx="760085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Descartado en el TP1: dependencias ocultas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Cada exclusión tiene una ruta de extensión documentada, no es un olvido.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8/21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P2 · DESAFÍO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F8FAFC"/>
                </a:solidFill>
                <a:latin typeface="Segoe UI"/>
              </a:rPr>
              <a:t>Mover → Atacar → Mover, sin que la animación decida las reglas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3685946" cy="658368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837943"/>
            <a:ext cx="34299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Lo que NO quiero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2874" y="1783080"/>
            <a:ext cx="7371892" cy="658368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0890" y="1837943"/>
            <a:ext cx="71158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Por qué es un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41448"/>
            <a:ext cx="3685946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496312"/>
            <a:ext cx="34299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TurnManager con corrutinas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2874" y="2441448"/>
            <a:ext cx="7371892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0890" y="2496312"/>
            <a:ext cx="71158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WaitForSeconds mete el tiempo del arte dentro de la regla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99815"/>
            <a:ext cx="3685946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154679"/>
            <a:ext cx="34299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FSM con un estado por acción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3099815"/>
            <a:ext cx="7371892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0890" y="3154679"/>
            <a:ext cx="71158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Explota en combinaciones al agregar módulos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58184"/>
            <a:ext cx="3685946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813048"/>
            <a:ext cx="34299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Un comando por cada orden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2874" y="3758184"/>
            <a:ext cx="7371892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0890" y="3813048"/>
            <a:ext cx="71158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Obliga a tocar el controlador central cada vez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8056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BD5E1"/>
                </a:solidFill>
                <a:latin typeface="Segoe UI"/>
              </a:rPr>
              <a:t>La pregunta difícil no es “¿puede moverse?”.
Es cuándo se aplica el efecto: antes o después de la animación.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9/21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P2 ·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F8FAFC"/>
                </a:solidFill>
                <a:latin typeface="Segoe UI"/>
              </a:rPr>
              <a:t>La regla se aplica al instante, la animación espera después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962851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2020824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ICommand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31720"/>
            <a:ext cx="19628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inmutable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57211" y="2295144"/>
            <a:ext cx="25603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40675" y="1874519"/>
            <a:ext cx="1962851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40675" y="2020824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0675" y="2331720"/>
            <a:ext cx="19628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¿PA / objetivo?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30958" y="2295144"/>
            <a:ext cx="25603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14422" y="1874519"/>
            <a:ext cx="1962851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778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14422" y="2020824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4ADE80"/>
                </a:solidFill>
                <a:latin typeface="Segoe UI"/>
              </a:rPr>
              <a:t>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4422" y="2331720"/>
            <a:ext cx="19628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instantáneo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04705" y="2295144"/>
            <a:ext cx="25603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88169" y="1874519"/>
            <a:ext cx="1962851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778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88169" y="2020824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4ADE80"/>
                </a:solidFill>
                <a:latin typeface="Segoe UI"/>
              </a:rPr>
              <a:t>Notifica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169" y="2331720"/>
            <a:ext cx="19628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estado ya cambiado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8452" y="2295144"/>
            <a:ext cx="25603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61916" y="1874519"/>
            <a:ext cx="1962851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778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61916" y="2020824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94A3B8"/>
                </a:solidFill>
                <a:latin typeface="Segoe UI"/>
              </a:rPr>
              <a:t>await vista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1916" y="2331720"/>
            <a:ext cx="19628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animación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22100" y="2734056"/>
            <a:ext cx="0" cy="365759"/>
          </a:xfrm>
          <a:prstGeom prst="line">
            <a:avLst/>
          </a:prstGeom>
          <a:ln w="15875">
            <a:solidFill>
              <a:srgbClr val="F871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75499" y="3118104"/>
            <a:ext cx="2057400" cy="502920"/>
          </a:xfrm>
          <a:prstGeom prst="roundRect">
            <a:avLst>
              <a:gd name="adj" fmla="val 6000"/>
            </a:avLst>
          </a:prstGeom>
          <a:solidFill>
            <a:srgbClr val="2E1515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575499" y="320954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87171"/>
                </a:solidFill>
                <a:latin typeface="Segoe UI"/>
              </a:rPr>
              <a:t>rechazo con motivo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31920"/>
            <a:ext cx="3493008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6384" y="4059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Único dueño del 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389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CommandProcessor. Nadie más lo reemplaza.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9392" y="3931920"/>
            <a:ext cx="3493008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98848" y="4059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Cola serializada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389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Dos envíos seguidos no se intercalan.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5" y="3931920"/>
            <a:ext cx="3493008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11311" y="4059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Solo tres fases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4389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PlayerTurn · Executing · EnemyTurn.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Cuando el pipeline vuelve de Execute, el estado ya cambió. La animación no puede condicionarlo.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10/21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P2 ·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El estado cambia antes de que termine la animación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57839" cy="749808"/>
          </a:xfrm>
          <a:prstGeom prst="roundRect">
            <a:avLst>
              <a:gd name="adj" fmla="val 10000"/>
            </a:avLst>
          </a:prstGeom>
          <a:solidFill>
            <a:srgbClr val="24334A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1050919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78BFA"/>
                </a:solidFill>
                <a:latin typeface="Consolas"/>
              </a:rPr>
              <a:t>Submit_AppliesLogicBeforeTheAnimationCompletes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78BF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0720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Posición y PA ya cambiaron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0998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el efecto lógico está aplicado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75303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78BFA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593591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Phase == Executing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886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la animación está en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61688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78BFA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379975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El Task sigue pendiente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672583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todavía no terminó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74320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93408" y="287121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ADE80"/>
                </a:solidFill>
                <a:latin typeface="Segoe UI"/>
              </a:rPr>
              <a:t>Segundo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312724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BD5E1"/>
                </a:solidFill>
                <a:latin typeface="Consolas"/>
              </a:rPr>
              <a:t>Submit_SecondCommand_QueuesUntil
TheFirstAnimationCompletes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886200"/>
            <a:ext cx="5120640" cy="1481328"/>
          </a:xfrm>
          <a:prstGeom prst="roundRect">
            <a:avLst>
              <a:gd name="adj" fmla="val 6000"/>
            </a:avLst>
          </a:prstGeom>
          <a:solidFill>
            <a:srgbClr val="24334A"/>
          </a:solidFill>
          <a:ln w="1397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93408" y="400507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CORRIDA REAL DE LA ESCENA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4279392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BD5E1"/>
                </a:solidFill>
                <a:latin typeface="Consolas"/>
              </a:rPr>
              <a:t>Mover (2,0) 2 PA → Atacar 2 PA → Mover (3,0) 1 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5902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DE80"/>
                </a:solidFill>
                <a:latin typeface="Segoe UI"/>
              </a:rPr>
              <a:t>PA 6 → 1   ·   hull enemigo 6 →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Si alguien espera la animación antes de mutar el estado, este test falla.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11/21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P2 · EXTENSIBILIDAD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F8FAFC"/>
                </a:solidFill>
                <a:latin typeface="Segoe UI"/>
              </a:rPr>
              <a:t>Agregar una habilidad es crear una clase, no modificar 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193852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MoveCommand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1284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implementado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49907" y="2505456"/>
            <a:ext cx="0" cy="365759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82880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88920" y="193852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AttackCommand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21284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implementado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71900" y="2505456"/>
            <a:ext cx="0" cy="365759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10912" y="182880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10912" y="193852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ShieldCommand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21284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implementado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93892" y="2505456"/>
            <a:ext cx="0" cy="365759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32903" y="182880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651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32903" y="193852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4ADE80"/>
                </a:solidFill>
                <a:latin typeface="Segoe UI"/>
              </a:rPr>
              <a:t>TractorBeamCommand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3" y="221284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en vivo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15883" y="2505456"/>
            <a:ext cx="0" cy="365759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66928" y="288950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24334A"/>
          </a:solidFill>
          <a:ln w="2032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6928" y="2889504"/>
            <a:ext cx="110578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DE80"/>
                </a:solidFill>
                <a:latin typeface="Segoe UI"/>
              </a:rPr>
              <a:t>ICommand  →  CommandProcessor  (no cambia)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947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DE80"/>
                </a:solidFill>
                <a:latin typeface="Consolas"/>
              </a:rPr>
              <a:t>✓  Submit_NewCommandVariant_RequiresNoPipelineChange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34340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Diferido: Undo/Redo. El TP1 lo menciona como capacidad que el patrón habilita, no como requisito del prototipo.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ShieldCommand ya existe y el pipeline no se enteró.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12/21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P3 · DESAFÍO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Sin GameManager.Instance y sin Service Locator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3839527" cy="658368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837943"/>
            <a:ext cx="3583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Lo que NO quiero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6455" y="1783080"/>
            <a:ext cx="7218311" cy="658368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4471" y="1837943"/>
            <a:ext cx="69622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Por qué es un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41448"/>
            <a:ext cx="3839527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496312"/>
            <a:ext cx="3583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GameManager.Instance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6455" y="2441448"/>
            <a:ext cx="7218311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4471" y="2496312"/>
            <a:ext cx="69622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Dependencias ocultas y estado global mutable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99815"/>
            <a:ext cx="3839527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154679"/>
            <a:ext cx="3583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Service Locator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6455" y="3099815"/>
            <a:ext cx="7218311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4471" y="3154679"/>
            <a:ext cx="69622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Mismo problema con otro nombre: la clase pide, no recibe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58184"/>
            <a:ext cx="3839527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813048"/>
            <a:ext cx="3583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Stats calculadas dentro del 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6455" y="3758184"/>
            <a:ext cx="7218311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4471" y="3813048"/>
            <a:ext cx="69622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El cálculo queda atado al motor y no se puede testear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8056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BD5E1"/>
                </a:solidFill>
                <a:latin typeface="Segoe UI"/>
              </a:rPr>
              <a:t>El síntoma es fácil de ver: si para testear tengo que abrir una escena, la dependencia está mal puesta.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13/21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P3 ·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Dependencias por constructor, datos como assets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24334A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2" y="195681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BF24"/>
                </a:solidFill>
                <a:latin typeface="Segoe UI"/>
              </a:rPr>
              <a:t>EquipmentLifetimeScope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composición · 1 por escena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81567" y="1828800"/>
            <a:ext cx="2697480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027871" y="192024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ModuleCatalogAsset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7871" y="219456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Flyweight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035807" y="2157984"/>
            <a:ext cx="5800040" cy="128016"/>
          </a:xfrm>
          <a:prstGeom prst="line">
            <a:avLst/>
          </a:prstGeom>
          <a:ln w="1587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81567" y="2615184"/>
            <a:ext cx="2697480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27871" y="270662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ShipConfig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7871" y="2980944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stats 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35807" y="2286000"/>
            <a:ext cx="5800040" cy="658368"/>
          </a:xfrm>
          <a:prstGeom prst="line">
            <a:avLst/>
          </a:prstGeom>
          <a:ln w="1587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81567" y="3401568"/>
            <a:ext cx="2697480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27871" y="349300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ADE80"/>
                </a:solidFill>
                <a:latin typeface="Segoe UI"/>
              </a:rPr>
              <a:t>IEquipmentService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7871" y="376732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contrato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35807" y="2286000"/>
            <a:ext cx="5800040" cy="1444752"/>
          </a:xfrm>
          <a:prstGeom prst="line">
            <a:avLst/>
          </a:prstGeom>
          <a:ln w="1587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24247" y="4005072"/>
            <a:ext cx="2743200" cy="713232"/>
          </a:xfrm>
          <a:prstGeom prst="roundRect">
            <a:avLst>
              <a:gd name="adj" fmla="val 6000"/>
            </a:avLst>
          </a:prstGeom>
          <a:solidFill>
            <a:srgbClr val="1A2418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24247" y="411480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4ADE80"/>
                </a:solidFill>
                <a:latin typeface="Segoe UI"/>
              </a:rPr>
              <a:t>LoadoutDemo  [Inject]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4247" y="440740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no busca: recibe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07492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El contenedor vive en Presentación. El servicio ni sabe que existe VContainer: recibe una interfaz.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ScriptableObject es adaptador, no modelo: el dominio recibe ModuleDefinition.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14/21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P3 ·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Testeable sin Unity y ampliable sin recompilar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DIP: catálogo inyectado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49834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BD5E1"/>
                </a:solidFill>
                <a:latin typeface="Segoe UI"/>
              </a:rPr>
              <a:t>·  EquipmentService recibe IModuleCatalog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BD5E1"/>
                </a:solidFill>
                <a:latin typeface="Segoe UI"/>
              </a:rPr>
              <a:t>·  El test inyecta FakeCatalog y cuenta consultas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BD5E1"/>
                </a:solidFill>
                <a:latin typeface="Segoe UI"/>
              </a:rPr>
              <a:t>·  Corre en Edit Mode, sin escena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DE80"/>
                </a:solidFill>
                <a:latin typeface="Segoe UI"/>
              </a:rPr>
              <a:t>Data-driven: sin 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350008"/>
            <a:ext cx="49834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BD5E1"/>
                </a:solidFill>
                <a:latin typeface="Segoe UI"/>
              </a:rPr>
              <a:t>·  laser-mk1 → laser-mk2 reemplaza en el slot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BD5E1"/>
                </a:solidFill>
                <a:latin typeface="Segoe UI"/>
              </a:rPr>
              <a:t>·  laser-mk3 se agregó como asset, no como clase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BD5E1"/>
                </a:solidFill>
                <a:latin typeface="Segoe UI"/>
              </a:rPr>
              <a:t>·  Stats: PA 6 · escudos 5 · movimiento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7763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977639"/>
            <a:ext cx="10692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BD5E1"/>
                </a:solidFill>
                <a:latin typeface="Consolas"/>
              </a:rPr>
              <a:t>TryEquip_ReplacingModule_DoesNotDoubleCount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982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98264"/>
            <a:ext cx="10692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BD5E1"/>
                </a:solidFill>
                <a:latin typeface="Consolas"/>
              </a:rPr>
              <a:t>EquipmentService_WithInjectedFakeCatalog_ResolvesModulesById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Un slot por tipo: el estado inválido “módulo en slot incompatible” no puede existir.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15/21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8FAFC"/>
                </a:solidFill>
                <a:latin typeface="Segoe UI"/>
              </a:rPr>
              <a:t>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F8FAFC"/>
                </a:solidFill>
                <a:latin typeface="Segoe UI"/>
              </a:rPr>
              <a:t>Cada comportamiento tiene un test y un defecto declarado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3851606" cy="786384"/>
          </a:xfrm>
          <a:prstGeom prst="rect">
            <a:avLst/>
          </a:prstGeom>
          <a:solidFill>
            <a:srgbClr val="24334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837943"/>
            <a:ext cx="359557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Comportamiento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8534" y="1783080"/>
            <a:ext cx="3478870" cy="786384"/>
          </a:xfrm>
          <a:prstGeom prst="rect">
            <a:avLst/>
          </a:prstGeom>
          <a:solidFill>
            <a:srgbClr val="24334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6550" y="1837943"/>
            <a:ext cx="322283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97405" y="1783080"/>
            <a:ext cx="3727361" cy="786384"/>
          </a:xfrm>
          <a:prstGeom prst="rect">
            <a:avLst/>
          </a:prstGeom>
          <a:solidFill>
            <a:srgbClr val="24334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5421" y="1837943"/>
            <a:ext cx="347132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Error que detectaría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69464"/>
            <a:ext cx="3851606" cy="78638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624328"/>
            <a:ext cx="359557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El evento solo se emite si hay mutación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8534" y="2569464"/>
            <a:ext cx="3478870" cy="78638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550" y="2624328"/>
            <a:ext cx="322283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SetCell_WithSameValue_…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7405" y="2569464"/>
            <a:ext cx="3727361" cy="78638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5421" y="2624328"/>
            <a:ext cx="347132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Polling disfrazado de reactividad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55848"/>
            <a:ext cx="3851606" cy="78638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410712"/>
            <a:ext cx="359557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El estado cambia antes de la animación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8534" y="3355848"/>
            <a:ext cx="3478870" cy="78638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6550" y="3410712"/>
            <a:ext cx="322283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Submit_AppliesLogicBefore…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7405" y="3355848"/>
            <a:ext cx="3727361" cy="78638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5421" y="3410712"/>
            <a:ext cx="347132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Regla acoplada al tiempo del arte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142232"/>
            <a:ext cx="3851606" cy="78638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197096"/>
            <a:ext cx="359557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Reemplazar un módulo no duplica stats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8534" y="4142232"/>
            <a:ext cx="3478870" cy="78638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6550" y="4197096"/>
            <a:ext cx="322283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TryEquip_ReplacingModule_…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7405" y="4142232"/>
            <a:ext cx="3727361" cy="78638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5421" y="4197096"/>
            <a:ext cx="347132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Sumar el módulo viejo y el nuevo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8920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21 tests en Edit Mode  ·  1 en Play Mode  ·  el único Play Mode es P2, porque es el único donde importa que Unity invoque al adaptador.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No hay un test por método: hay un test por regla, y cada uno responde qué error detectaría.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16/21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87171"/>
                </a:solidFill>
                <a:latin typeface="Segoe UI"/>
              </a:rP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Esto es lo que dejé afuera, y por qué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2981889" cy="621792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837943"/>
            <a:ext cx="272585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Excluido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8817" y="1783080"/>
            <a:ext cx="3975852" cy="621792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6833" y="1837943"/>
            <a:ext cx="37198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Justificación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24669" y="1783080"/>
            <a:ext cx="4100097" cy="621792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2685" y="1837943"/>
            <a:ext cx="384406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Ruta de extensión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04872"/>
            <a:ext cx="2981889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459736"/>
            <a:ext cx="272585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Undo / Redo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8817" y="2404872"/>
            <a:ext cx="3975852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6833" y="2459736"/>
            <a:ext cx="37198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Capacidad habilitada, no requisito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24669" y="2404872"/>
            <a:ext cx="4100097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2685" y="2459736"/>
            <a:ext cx="384406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Historial de estados en el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026664"/>
            <a:ext cx="2981889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081528"/>
            <a:ext cx="272585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IA enemiga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8817" y="3026664"/>
            <a:ext cx="3975852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6833" y="3081528"/>
            <a:ext cx="37198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El desafío es el flujo, no la búsqueda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24669" y="3026664"/>
            <a:ext cx="4100097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2685" y="3081528"/>
            <a:ext cx="384406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El pipeline acepta cualquier ICommand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648456"/>
            <a:ext cx="2981889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703320"/>
            <a:ext cx="272585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Animación con clips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8817" y="3648456"/>
            <a:ext cx="3975852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6833" y="3703320"/>
            <a:ext cx="37198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Los modelos se mueven por transform, sin Animator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4669" y="3648456"/>
            <a:ext cx="4100097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52685" y="3703320"/>
            <a:ext cx="384406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Animator sobre el modelo actual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270248"/>
            <a:ext cx="2981889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4325112"/>
            <a:ext cx="272585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Modificadores multiplicativos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48817" y="4270248"/>
            <a:ext cx="3975852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6833" y="4325112"/>
            <a:ext cx="37198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Ningún módulo del alcance los usa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4669" y="4270248"/>
            <a:ext cx="4100097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52685" y="4325112"/>
            <a:ext cx="384406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StatModifier con operación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892040"/>
            <a:ext cx="2981889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946904"/>
            <a:ext cx="272585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Mapas 3D / niebla de guerra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48817" y="4892040"/>
            <a:ext cx="3975852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76833" y="4946904"/>
            <a:ext cx="37198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Otro sistema, no exposición de estado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4669" y="4892040"/>
            <a:ext cx="4100097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52685" y="4946904"/>
            <a:ext cx="384406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Capa sobre IGridQueryService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No son las cosas que no llegué a hacer: son las que decidí no hacer.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17/21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AJUSTES Y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Qué cambié, y qué descubrí al implementar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91640"/>
            <a:ext cx="3642582" cy="512064"/>
          </a:xfrm>
          <a:prstGeom prst="rect">
            <a:avLst/>
          </a:prstGeom>
          <a:solidFill>
            <a:srgbClr val="24334A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746504"/>
            <a:ext cx="33865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TP1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9510" y="1691640"/>
            <a:ext cx="4032859" cy="512064"/>
          </a:xfrm>
          <a:prstGeom prst="rect">
            <a:avLst/>
          </a:prstGeom>
          <a:solidFill>
            <a:srgbClr val="24334A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7526" y="1746504"/>
            <a:ext cx="377682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TP2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2369" y="1691640"/>
            <a:ext cx="3382397" cy="512064"/>
          </a:xfrm>
          <a:prstGeom prst="rect">
            <a:avLst/>
          </a:prstGeom>
          <a:solidFill>
            <a:srgbClr val="24334A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0385" y="1746504"/>
            <a:ext cx="312636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Motivo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03704"/>
            <a:ext cx="3642582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258568"/>
            <a:ext cx="33865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ExecuteAsync devuelve UniTask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9510" y="2203704"/>
            <a:ext cx="4032859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7526" y="2258568"/>
            <a:ext cx="377682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ICommand sync + Task en el puerto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2369" y="2203704"/>
            <a:ext cx="3382397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0385" y="2258568"/>
            <a:ext cx="312636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El PDF admite UniTask /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15768"/>
            <a:ext cx="3642582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770632"/>
            <a:ext cx="33865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ShipModuleSO entra al cálculo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9510" y="2715768"/>
            <a:ext cx="4032859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7526" y="2770632"/>
            <a:ext cx="377682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El dominio recibe ModuleDefinition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2369" y="2715768"/>
            <a:ext cx="3382397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0385" y="2770632"/>
            <a:ext cx="312636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Dominio libre de UnityEngine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27832"/>
            <a:ext cx="3642582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282696"/>
            <a:ext cx="33865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FSM con estados por acción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9510" y="3227832"/>
            <a:ext cx="4032859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7526" y="3282696"/>
            <a:ext cx="377682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Tres fases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2369" y="3227832"/>
            <a:ext cx="3382397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0385" y="3282696"/>
            <a:ext cx="312636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Evitar explosión de combinaciones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19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ADE80"/>
                </a:solidFill>
                <a:latin typeface="Segoe UI"/>
              </a:rPr>
              <a:t>QUÉ DESCUBRÍ AL IMPLEMENTAR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187952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7171"/>
                </a:solidFill>
                <a:latin typeface="Segoe UI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187952"/>
            <a:ext cx="10692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Un FBX mal centrado parecía un bug de arquitectura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379976"/>
            <a:ext cx="106920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la nave se dibujaba al lado de su anillo; era el pivote del export, no el código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599432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7171"/>
                </a:solidFill>
                <a:latin typeface="Segoe UI"/>
              </a:rPr>
              <a:t>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4599432"/>
            <a:ext cx="10692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transform.Find por ruta cortó el panel con un NullReference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791456"/>
            <a:ext cx="106920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la vista no debe buscar referencias: la fábrica devuelve tipos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010912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7171"/>
                </a:solidFill>
                <a:latin typeface="Segoe UI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" y="5010912"/>
            <a:ext cx="10692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[Inject] llegaba después de 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5202936"/>
            <a:ext cx="106920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la nave 3D nunca se construía; se resuelve con un evento Ready, no con un orden implícito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422392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7171"/>
                </a:solidFill>
                <a:latin typeface="Segoe UI"/>
              </a:rPr>
              <a:t>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5422392"/>
            <a:ext cx="10692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El EventSystem del template no respondía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" y="5614416"/>
            <a:ext cx="106920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con el Input System nuevo, StandaloneInputModule es inerte: hace falta InputSystemUIInputModule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Los cuatro cambios del TP1 están en docs/01 §5; estos cuatro hallazgos, en el código.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/>
              </a:rPr>
              <a:t>18/21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6304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DE80"/>
                </a:solidFill>
                <a:latin typeface="Segoe U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8FAFC"/>
                </a:solidFill>
                <a:latin typeface="Segoe UI"/>
              </a:rPr>
              <a:t>Tres problemas, tres soluciones,
tres suites que las verifican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BD5E1"/>
                </a:solidFill>
                <a:latin typeface="Segoe UI"/>
              </a:rPr>
              <a:t>Las propiedades se demuestran: ISP por reflexión, OCP con un comando nuevo, DIP con un fake.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5876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BD5E1"/>
                </a:solidFill>
                <a:latin typeface="Segoe UI"/>
              </a:rPr>
              <a:t>Lo que no está, está afuera por decisión y con ruta de extensión.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709160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4709160"/>
            <a:ext cx="349300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Consolas"/>
              </a:rPr>
              <a:t>P1_GridState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4709160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79392" y="4709160"/>
            <a:ext cx="349300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A78BFA"/>
                </a:solidFill>
                <a:latin typeface="Consolas"/>
              </a:rPr>
              <a:t>P2_CommandPipeline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5" y="4709160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91855" y="4709160"/>
            <a:ext cx="349300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BBF24"/>
                </a:solidFill>
                <a:latin typeface="Consolas"/>
              </a:rPr>
              <a:t>P3_Loadout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22 tests verdes · tag tp2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87171"/>
                </a:solidFill>
                <a:latin typeface="Segoe UI"/>
              </a:rPr>
              <a:t>RESPALDO · SI PREGUNTAN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Mutation demo: rompo una línea y el test se pone rojo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1638198" cy="822960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837943"/>
            <a:ext cx="138216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Prototipo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5126" y="1783080"/>
            <a:ext cx="4505045" cy="822960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142" y="1837943"/>
            <a:ext cx="424901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Línea que rompo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0172" y="1783080"/>
            <a:ext cx="4914595" cy="822960"/>
          </a:xfrm>
          <a:prstGeom prst="rect">
            <a:avLst/>
          </a:prstGeom>
          <a:solidFill>
            <a:srgbClr val="24334A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8187" y="1837943"/>
            <a:ext cx="465856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Test que falla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06040"/>
            <a:ext cx="1638198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660904"/>
            <a:ext cx="138216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P1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5126" y="2606040"/>
            <a:ext cx="4505045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3142" y="2660904"/>
            <a:ext cx="424901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Emitir el evento aunque el valor no cambie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10172" y="2606040"/>
            <a:ext cx="4914595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8187" y="2660904"/>
            <a:ext cx="465856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SetCell_WithSameValue_DoesNotRaiseChange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429000"/>
            <a:ext cx="1638198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483864"/>
            <a:ext cx="138216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P2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05126" y="3429000"/>
            <a:ext cx="4505045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3142" y="3483864"/>
            <a:ext cx="424901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Esperar la animación antes de mutar el estado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0172" y="3429000"/>
            <a:ext cx="4914595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8187" y="3483864"/>
            <a:ext cx="465856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Submit_AppliesLogicBeforeTheAnimation…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251960"/>
            <a:ext cx="1638198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306824"/>
            <a:ext cx="138216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5126" y="4251960"/>
            <a:ext cx="4505045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3142" y="4306824"/>
            <a:ext cx="424901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Sumar el módulo anterior y el nuevo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10172" y="4251960"/>
            <a:ext cx="4914595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8187" y="4306824"/>
            <a:ext cx="465856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TryEquip_ReplacingModule_DoesNotDoubleCount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92040"/>
            <a:ext cx="11057839" cy="694944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6384" y="5093208"/>
            <a:ext cx="106189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git stash  →  editar una línea  →  correr el test  →  mostrar rojo  →  git checkout 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DD4BF"/>
                </a:solidFill>
                <a:latin typeface="Segoe UI"/>
              </a:rPr>
              <a:t>RESPALDO · SI PREGUNTAN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Contratos y decisiones de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3252305" cy="749808"/>
          </a:xfrm>
          <a:prstGeom prst="rect">
            <a:avLst/>
          </a:prstGeom>
          <a:solidFill>
            <a:srgbClr val="24334A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837943"/>
            <a:ext cx="29962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Pregunta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9233" y="1783080"/>
            <a:ext cx="7805533" cy="749808"/>
          </a:xfrm>
          <a:prstGeom prst="rect">
            <a:avLst/>
          </a:prstGeom>
          <a:solidFill>
            <a:srgbClr val="24334A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47249" y="1837943"/>
            <a:ext cx="754950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94A3B8"/>
                </a:solidFill>
                <a:latin typeface="Segoe UI"/>
              </a:rPr>
              <a:t>Respuesta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32888"/>
            <a:ext cx="3252305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587752"/>
            <a:ext cx="29962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¿Cuándo usás excepciones?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9233" y="2532888"/>
            <a:ext cx="7805533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7249" y="2587752"/>
            <a:ext cx="754950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Solo precondiciones rotas (catálogo null). Un estado inválido es un resultado con motivo.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82696"/>
            <a:ext cx="3252305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337560"/>
            <a:ext cx="29962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¿Por qué no null para ausencia?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9233" y="3282696"/>
            <a:ext cx="7805533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47249" y="3337560"/>
            <a:ext cx="754950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TryGetModule(out …) obliga a manejarla; null explota lejos del origen.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032504"/>
            <a:ext cx="3252305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4087368"/>
            <a:ext cx="29962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¿Quién puede mutar?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9233" y="4032504"/>
            <a:ext cx="7805533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47249" y="4087368"/>
            <a:ext cx="754950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GridModel el mapa, CommandProcessor la nave, EquipmentService el loadout. Nadie más.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782312"/>
            <a:ext cx="3252305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4837175"/>
            <a:ext cx="29962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¿Por qué estructuras inmutables?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9233" y="4782312"/>
            <a:ext cx="7805533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47249" y="4837175"/>
            <a:ext cx="754950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Permiten comparar antes/después y razonar sobre undo sin deriva.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La consigna evalúa decisiones, no cantidad de patrones.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RESPALDO · SI PREGUNTAN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Cómo se reproduce y se verifica, sin abrir el editor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7772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57839" cy="3072384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1984248"/>
            <a:ext cx="10618927" cy="2633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Consolas"/>
              </a:rPr>
              <a:t># Escenas: se generan solas si faltan ([InitializeOnLoad]) o por menú</a:t>
            </a:r>
          </a:p>
          <a:p>
            <a:pPr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Consolas"/>
              </a:rPr>
              <a:t>unity command --project-path . menu --path "VoidHex/Build Prototype Scenes"</a:t>
            </a:r>
          </a:p>
          <a:p>
            <a:pPr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Consolas"/>
              </a:rPr>
              <a:t># Suite completa contra el editor en ejecución</a:t>
            </a:r>
          </a:p>
          <a:p>
            <a:pPr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Consolas"/>
              </a:rPr>
              <a:t>unity command --project-path . run_tests --mode EditMode</a:t>
            </a:r>
          </a:p>
          <a:p>
            <a:pPr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Consolas"/>
              </a:rPr>
              <a:t>unity command --project-path . run_tests --mode PlayMode --async_tests</a:t>
            </a:r>
          </a:p>
          <a:p>
            <a:pPr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Consolas"/>
              </a:rPr>
              <a:t># Evidencia visual de las tres escenas</a:t>
            </a:r>
          </a:p>
          <a:p>
            <a:pPr>
              <a:lnSpc>
                <a:spcPct val="100000"/>
              </a:lnSpc>
            </a:pPr>
            <a:r>
              <a:rPr sz="1150" b="0" i="0">
                <a:solidFill>
                  <a:srgbClr val="4ADE80"/>
                </a:solidFill>
                <a:latin typeface="Consolas"/>
              </a:rPr>
              <a:t>unity command --project-path . capture_game_view --source screen --save_path captura.png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Tres verificadores propios: referencias de asmdef, integridad de escenas y auditoría de la lógica pura sin Unity.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92531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5925312"/>
            <a:ext cx="54864" cy="475488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925312"/>
            <a:ext cx="10600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Unity 6000.5.9f1 trae el paquete com.unity.pipeline: el editor se controla por CLI.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