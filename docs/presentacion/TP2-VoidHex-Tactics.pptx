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15 s. No voy a mostrar un juego. Voy a mostrar tres problemas técnicos del TP1,</a:t>
            </a:r>
          </a:p>
          <a:p>
            <a:r>
              <a:t>la solución declarada para cada uno, y la evidencia de que funciona.</a:t>
            </a:r>
          </a:p>
          <a:p/>
          <a:p>
            <a:r>
              <a:t>Tiempo total objetivo: 18-19 minutos, dejando margen para preguntas.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45 s. El TP2 no cambia el diagnóstico del TP1: cambia que ahora está implementado y testeado.</a:t>
            </a:r>
          </a:p>
          <a:p/>
          <a:p>
            <a:r>
              <a:t>Si preguntan "¿por qué no un juego completo?": la consigna (§4.1) pide 3 pruebas de concepto</a:t>
            </a:r>
          </a:p>
          <a:p>
            <a:r>
              <a:t>técnicamente pulidas. Agregar contenido no demuestra ninguna propiedad de diseño.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60 s. Esta regla es la base de los tres prototipos.</a:t>
            </a:r>
          </a:p>
          <a:p/>
          <a:p>
            <a:r>
              <a:t>Demo D2 (opcional): escribir using UnityEngine; en un archivo del dominio y mostrar el error.</a:t>
            </a:r>
          </a:p>
          <a:p>
            <a:r>
              <a:t>Plan B: captura del error ya tomada.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45 s. Si les doy el mismo objeto a los tres, la UI puede cambiar reglas</a:t>
            </a:r>
          </a:p>
          <a:p>
            <a:r>
              <a:t>y la IA termina escuchando eventos visuales. Ese es el problema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60 s. Insistir: no es una convención de estilo. Es el tipo del constructor.</a:t>
            </a:r>
          </a:p>
          <a:p/>
          <a:p>
            <a:r>
              <a:t>Si preguntan "¿y si alguien castea?": tendría que romper una capa explícitamente,</a:t>
            </a:r>
          </a:p>
          <a:p>
            <a:r>
              <a:t>y el asmdef lo impide hacia el dominio.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60 s. Escena real: mapa 12×12 con asteroides y cristales del Kenney Space Kit.</a:t>
            </a:r>
          </a:p>
          <a:p>
            <a:r>
              <a:t>La ruta al destino es de 21 celdas y costo 20; el contador de eventos queda en 4,</a:t>
            </a:r>
          </a:p>
          <a:p>
            <a:r>
              <a:t>que es exactamente la cantidad de obstáculos colocados.</a:t>
            </a:r>
          </a:p>
          <a:p/>
          <a:p>
            <a:r>
              <a:t>Los dos primeros tests usan reflexión: verifican que el contrato de publicación solo</a:t>
            </a:r>
          </a:p>
          <a:p>
            <a:r>
              <a:t>tenga eventos y que el de lectura no tenga mutaciones. Si mañana alguien agrega SetCell</a:t>
            </a:r>
          </a:p>
          <a:p>
            <a:r>
              <a:t>a la interfaz de lectura, el test se pone rojo antes de que llegue a la UI.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45 s. ESTA SLIDE ES LA QUE CORRIGE EL MALENTENDIDO DEL TP1. No la saltees.</a:t>
            </a:r>
          </a:p>
          <a:p/>
          <a:p>
            <a:r>
              <a:t>Si el jurado espera "problema 1 = matemática hexagonal" y ve ISP,</a:t>
            </a:r>
          </a:p>
          <a:p>
            <a:r>
              <a:t>sin esta slide parece que me fui del tema. Con esta slide, es una decisión fundamentada.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40 s. El jugador puede intercalar acciones. El riesgo real es que el tiempo del arte</a:t>
            </a:r>
          </a:p>
          <a:p>
            <a:r>
              <a:t>termine gobernando la regla del juego.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70 s. Mirar el orden del diagrama: Validate → Execute → notifica → await.</a:t>
            </a:r>
          </a:p>
          <a:p/>
          <a:p>
            <a:r>
              <a:t>Si el jugador pulsa dos veces, el segundo comando espera en la cola:</a:t>
            </a:r>
          </a:p>
          <a:p>
            <a:r>
              <a:t>no hay estado a medio aplicar.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60 s. Este es el test que demuestra el desacoplamiento temporal.</a:t>
            </a:r>
          </a:p>
          <a:p/>
          <a:p>
            <a:r>
              <a:t>Pregunta que invita: "¿qué error detectaría?"</a:t>
            </a:r>
          </a:p>
          <a:p>
            <a:r>
              <a:t>→ acoplar la regla al tiempo de la animación, o intercalar dos comandos y corromper el estado.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50 s. En la escena, ShieldCommand cuesta 2 PA y suma 4 de escudo: el pipeline no cambió.</a:t>
            </a:r>
          </a:p>
          <a:p/>
          <a:p>
            <a:r>
              <a:t>Demo D4: agregar TractorBeamCommand en vivo. Valida PA, mueve la nave enemiga,</a:t>
            </a:r>
          </a:p>
          <a:p>
            <a:r>
              <a:t>y CommandProcessor no cambia una línea.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40 s. Ese es el diagnóstico en una frase: si el test necesita una escena,</a:t>
            </a:r>
          </a:p>
          <a:p>
            <a:r>
              <a:t>la dependencia está mal puesta.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60 s. El LifetimeScope es composición: registra catálogo, config y servicio.</a:t>
            </a:r>
          </a:p>
          <a:p>
            <a:r>
              <a:t>LoadoutDemo no busca nada, recibe IEquipmentService por [Inject].</a:t>
            </a:r>
          </a:p>
          <a:p/>
          <a:p>
            <a:r>
              <a:t>Eso es lo que permite testear el servicio sin escena.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60 s. La escena equipa laser-mk1, lo reemplaza por laser-mk2, suma thruster-mk1 y shield-mk1.</a:t>
            </a:r>
          </a:p>
          <a:p>
            <a:r>
              <a:t>Resultado real: PA 6, escudos 5, movimiento 4, habilidades [beam, barrier].</a:t>
            </a:r>
          </a:p>
          <a:p/>
          <a:p>
            <a:r>
              <a:t>Columna izquierda demuestra DIP: si el catálogo viene de un servidor, el servicio no cambia.</a:t>
            </a:r>
          </a:p>
          <a:p>
            <a:r>
              <a:t>Columna derecha demuestra data-driven: el MK III existe como asset, sin una clase nueva.</a:t>
            </a:r>
          </a:p>
          <a:p/>
          <a:p>
            <a:r>
              <a:t>Demos: D5 (reemplazo MK I → MK II) y D6 (equipar el MK III).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50 s. 80 en Edit Mode y 1 en Play Mode: 81, corridos y verdes dos veces (antes y después</a:t>
            </a:r>
          </a:p>
          <a:p>
            <a:r>
              <a:t> del rediseño de UI y de los assets). Reparto: P1 5, P2 7, P3 9 y 59 del bucle jugable.</a:t>
            </a:r>
          </a:p>
          <a:p/>
          <a:p>
            <a:r>
              <a:t>El único Play Mode es P2 porque es el único donde importa que Unity invoque al adaptador.</a:t>
            </a:r>
          </a:p>
          <a:p/>
          <a:p>
            <a:r>
              <a:t>Si preguntan qué detectaría cada uno, la matriz de docs/04 tiene la columna completa.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45 s. La consigna dice que excluir un caso necesita justificación (§4.1).</a:t>
            </a:r>
          </a:p>
          <a:p>
            <a:r>
              <a:t>Cada fila tiene por dónde crecer.</a:t>
            </a:r>
          </a:p>
          <a:p/>
          <a:p>
            <a:r>
              <a:t>Ojo: sí hay arte 3D real (modelos del Kenney Space Kit). Lo excluido es la animación</a:t>
            </a:r>
          </a:p>
          <a:p>
            <a:r>
              <a:t>con clips; el movimiento es por transform.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45 s. Esto responde "qué descubriste al implementar", que la consigna pide explícitamente (§4.1).</a:t>
            </a:r>
          </a:p>
          <a:p/>
          <a:p>
            <a:r>
              <a:t>El más útil para contar: el del pivote. Perdí tiempo buscando en la arquitectura algo que</a:t>
            </a:r>
          </a:p>
          <a:p>
            <a:r>
              <a:t>era un problema de importación de assets. Enseña a agotar la hipótesis barata antes.</a:t>
            </a:r>
          </a:p>
          <a:p/>
          <a:p>
            <a:r>
              <a:t>El segundo es el más arquitectónico: una vista que busca referencias por nombre de ruta</a:t>
            </a:r>
          </a:p>
          <a:p>
            <a:r>
              <a:t>no es una vista, es una dependencia oculta. Ahora la fábrica de UI devuelve tipos.</a:t>
            </a:r>
          </a:p>
          <a:p/>
          <a:p>
            <a:r>
              <a:t>Un quinto caso, si preguntan por los tests: una aserción mía estaba mal escrita</a:t>
            </a:r>
          </a:p>
          <a:p>
            <a:r>
              <a:t>(la ruta costaba 3, no 4). Lo detecté corriendo la lógica fuera del editor.</a:t>
            </a:r>
          </a:p>
          <a:p>
            <a:r>
              <a:t>Los tests también pueden estar equivocados; por eso el auditor existe.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 s. Con más tiempo, el siguiente paso sería Undo/Redo, porque el pipeline ya lo habilita.</a:t>
            </a:r>
          </a:p>
          <a:p>
            <a:r>
              <a:t>Pero eso es otro prototipo, no una deuda escondida.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 usa solo si preguntan "¿los tests detectan defectos reales?".</a:t>
            </a:r>
          </a:p>
          <a:p>
            <a:r>
              <a:t>Revertir siempre con git checkout . antes de seguir.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Esta slide responde el punto §4.4 de la consigna (contratos, null, mutabilidad,</a:t>
            </a:r>
          </a:p>
          <a:p>
            <a:r>
              <a:t>transparencia referencial, excepciones).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CLI (com.unity.pipeline) permite recompilar, ejecutar menús, correr tests y capturar</a:t>
            </a:r>
          </a:p>
          <a:p>
            <a:r>
              <a:t>el game view con el editor abierto. Es lo que se usó para verificar cada cambio de esta entrega.</a:t>
            </a:r>
          </a:p>
          <a:p/>
          <a:p>
            <a:r>
              <a:t>Si preguntan por batchmode: también existe, pero requiere el proyecto sin lock, es decir</a:t>
            </a:r>
          </a:p>
          <a:p>
            <a:r>
              <a:t>el editor cerrado. El CLI 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77295" y="6382512"/>
            <a:ext cx="548640" cy="27432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/>
            <a:r>
              <a:rPr sz="1000">
                <a:solidFill>
                  <a:srgbClr val="475569"/>
                </a:solidFill>
                <a:latin typeface="Segoe UI"/>
              </a:rPr>
              <a:t>1/21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417320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DD4BF"/>
                </a:solidFill>
                <a:latin typeface="Segoe UI"/>
              </a:rPr>
              <a:t>PROGRAMACIÓN DE VIDEOJUEGOS III ·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828800"/>
            <a:ext cx="11057839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F8FAFC"/>
                </a:solidFill>
                <a:latin typeface="Segoe UI"/>
              </a:rPr>
              <a:t>Tres decisiones de arquitectura,
verificadas con tests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246120"/>
            <a:ext cx="110578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A78BFA"/>
                </a:solidFill>
                <a:latin typeface="Segoe UI"/>
              </a:rPr>
              <a:t>Void Hex Tactics · TP2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4160520"/>
            <a:ext cx="3493008" cy="96012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 w="16510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68096" y="429768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8FAFC"/>
                </a:solidFill>
                <a:latin typeface="Consolas"/>
              </a:rPr>
              <a:t>P1_GridState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" y="461772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2DD4BF"/>
                </a:solidFill>
                <a:latin typeface="Segoe UI"/>
              </a:rPr>
              <a:t>ISP + Observer · 5 tests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79392" y="4160520"/>
            <a:ext cx="3493008" cy="96012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 w="1651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4480559" y="429768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8FAFC"/>
                </a:solidFill>
                <a:latin typeface="Consolas"/>
              </a:rPr>
              <a:t>P2_CommandPipeline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59" y="461772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A78BFA"/>
                </a:solidFill>
                <a:latin typeface="Segoe UI"/>
              </a:rPr>
              <a:t>Pipeline async · 8 tests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91855" y="4160520"/>
            <a:ext cx="3493008" cy="96012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 w="1651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193023" y="429768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8FAFC"/>
                </a:solidFill>
                <a:latin typeface="Consolas"/>
              </a:rPr>
              <a:t>P3_Loadout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93023" y="461772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FBBF24"/>
                </a:solidFill>
                <a:latin typeface="Segoe UI"/>
              </a:rPr>
              <a:t>DI + Data-driven · 9 tests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5623560"/>
            <a:ext cx="1105783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94A3B8"/>
                </a:solidFill>
                <a:latin typeface="Segoe UI"/>
              </a:rPr>
              <a:t>Matias Andres Fahler   ·   Unity 6000.5.9f1   ·   tag tp2   ·   81 tests verdes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77295" y="6382512"/>
            <a:ext cx="548640" cy="27432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/>
            <a:r>
              <a:rPr sz="1000">
                <a:solidFill>
                  <a:srgbClr val="475569"/>
                </a:solidFill>
                <a:latin typeface="Segoe UI"/>
              </a:rPr>
              <a:t>2/21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2DD4BF"/>
                </a:solidFill>
                <a:latin typeface="Segoe UI"/>
              </a:rPr>
              <a:t>QUÉ ENTREGO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2800" b="1" i="0">
                <a:solidFill>
                  <a:srgbClr val="F8FAFC"/>
                </a:solidFill>
                <a:latin typeface="Segoe UI"/>
              </a:rPr>
              <a:t>No es un juego: son tres decisiones verificables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777240" cy="50292"/>
          </a:xfrm>
          <a:prstGeom prst="roundRect">
            <a:avLst>
              <a:gd name="adj" fmla="val 5000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783080"/>
            <a:ext cx="4699581" cy="713232"/>
          </a:xfrm>
          <a:prstGeom prst="rect">
            <a:avLst/>
          </a:prstGeom>
          <a:solidFill>
            <a:srgbClr val="24334A"/>
          </a:solidFill>
          <a:ln w="9525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4944" y="1837943"/>
            <a:ext cx="4443549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050" b="1" i="0">
                <a:solidFill>
                  <a:srgbClr val="94A3B8"/>
                </a:solidFill>
                <a:latin typeface="Segoe UI"/>
              </a:rPr>
              <a:t>Desafío declarado en el TP1</a:t>
            </a:r>
          </a:p>
        </p:txBody>
      </p:sp>
      <p:sp>
        <p:nvSpPr>
          <p:cNvPr id="8" name="Rectangle 7"/>
          <p:cNvSpPr/>
          <p:nvPr/>
        </p:nvSpPr>
        <p:spPr>
          <a:xfrm>
            <a:off x="5266509" y="1783080"/>
            <a:ext cx="3593797" cy="713232"/>
          </a:xfrm>
          <a:prstGeom prst="rect">
            <a:avLst/>
          </a:prstGeom>
          <a:solidFill>
            <a:srgbClr val="24334A"/>
          </a:solidFill>
          <a:ln w="9525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94525" y="1837943"/>
            <a:ext cx="3337765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050" b="1" i="0">
                <a:solidFill>
                  <a:srgbClr val="94A3B8"/>
                </a:solidFill>
                <a:latin typeface="Segoe UI"/>
              </a:rPr>
              <a:t>Solución declarada</a:t>
            </a:r>
          </a:p>
        </p:txBody>
      </p:sp>
      <p:sp>
        <p:nvSpPr>
          <p:cNvPr id="10" name="Rectangle 9"/>
          <p:cNvSpPr/>
          <p:nvPr/>
        </p:nvSpPr>
        <p:spPr>
          <a:xfrm>
            <a:off x="8860307" y="1783080"/>
            <a:ext cx="2764459" cy="713232"/>
          </a:xfrm>
          <a:prstGeom prst="rect">
            <a:avLst/>
          </a:prstGeom>
          <a:solidFill>
            <a:srgbClr val="24334A"/>
          </a:solidFill>
          <a:ln w="9525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88323" y="1837943"/>
            <a:ext cx="2508427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050" b="1" i="0">
                <a:solidFill>
                  <a:srgbClr val="94A3B8"/>
                </a:solidFill>
                <a:latin typeface="Segoe UI"/>
              </a:rPr>
              <a:t>Prototipo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496312"/>
            <a:ext cx="4699581" cy="713232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" y="2551176"/>
            <a:ext cx="4443549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300" b="0" i="0">
                <a:solidFill>
                  <a:srgbClr val="CBD5E1"/>
                </a:solidFill>
                <a:latin typeface="Segoe UI"/>
              </a:rPr>
              <a:t>Exponer el mapa sin God Object ni polling en Update()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266509" y="2496312"/>
            <a:ext cx="3593797" cy="713232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94525" y="2551176"/>
            <a:ext cx="3337765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300" b="0" i="0">
                <a:solidFill>
                  <a:srgbClr val="CBD5E1"/>
                </a:solidFill>
                <a:latin typeface="Segoe UI"/>
              </a:rPr>
              <a:t>ISP + Observer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860307" y="2496312"/>
            <a:ext cx="2764459" cy="713232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88323" y="2551176"/>
            <a:ext cx="2508427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300" b="0" i="0">
                <a:solidFill>
                  <a:srgbClr val="CBD5E1"/>
                </a:solidFill>
                <a:latin typeface="Segoe UI"/>
              </a:rPr>
              <a:t>P1_GridState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3209544"/>
            <a:ext cx="4699581" cy="713232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4944" y="3264408"/>
            <a:ext cx="4443549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300" b="0" i="0">
                <a:solidFill>
                  <a:srgbClr val="CBD5E1"/>
                </a:solidFill>
                <a:latin typeface="Segoe UI"/>
              </a:rPr>
              <a:t>Alternar PA con animaciones asíncronas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66509" y="3209544"/>
            <a:ext cx="3593797" cy="713232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94525" y="3264408"/>
            <a:ext cx="3337765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300" b="0" i="0">
                <a:solidFill>
                  <a:srgbClr val="CBD5E1"/>
                </a:solidFill>
                <a:latin typeface="Segoe UI"/>
              </a:rPr>
              <a:t>Pipeline ICommand + async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860307" y="3209544"/>
            <a:ext cx="2764459" cy="713232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988323" y="3264408"/>
            <a:ext cx="2508427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300" b="0" i="0">
                <a:solidFill>
                  <a:srgbClr val="CBD5E1"/>
                </a:solidFill>
                <a:latin typeface="Segoe UI"/>
              </a:rPr>
              <a:t>P2_CommandPipeline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3922776"/>
            <a:ext cx="4699581" cy="713232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" y="3977639"/>
            <a:ext cx="4443549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300" b="0" i="0">
                <a:solidFill>
                  <a:srgbClr val="CBD5E1"/>
                </a:solidFill>
                <a:latin typeface="Segoe UI"/>
              </a:rPr>
              <a:t>Servicios sin singletons + módulos MK I–III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266509" y="3922776"/>
            <a:ext cx="3593797" cy="713232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394525" y="3977639"/>
            <a:ext cx="3337765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300" b="0" i="0">
                <a:solidFill>
                  <a:srgbClr val="CBD5E1"/>
                </a:solidFill>
                <a:latin typeface="Segoe UI"/>
              </a:rPr>
              <a:t>VContainer + ScriptableObjects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860307" y="3922776"/>
            <a:ext cx="2764459" cy="713232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988323" y="3977639"/>
            <a:ext cx="2508427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300" b="0" i="0">
                <a:solidFill>
                  <a:srgbClr val="CBD5E1"/>
                </a:solidFill>
                <a:latin typeface="Segoe UI"/>
              </a:rPr>
              <a:t>P3_Loadout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4754880"/>
            <a:ext cx="1105783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94A3B8"/>
                </a:solidFill>
                <a:latin typeface="Segoe UI"/>
              </a:rPr>
              <a:t>Una escena real por prototipo, con modelos 3D (Kenney CC0) y UI nativa: se puede jugar la prueba.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6928" y="5925312"/>
            <a:ext cx="11057839" cy="475488"/>
          </a:xfrm>
          <a:prstGeom prst="roundRect">
            <a:avLst>
              <a:gd name="adj" fmla="val 12000"/>
            </a:avLst>
          </a:prstGeom>
          <a:solidFill>
            <a:srgbClr val="243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ounded Rectangle 31"/>
          <p:cNvSpPr/>
          <p:nvPr/>
        </p:nvSpPr>
        <p:spPr>
          <a:xfrm>
            <a:off x="566928" y="5925312"/>
            <a:ext cx="54864" cy="475488"/>
          </a:xfrm>
          <a:prstGeom prst="round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04672" y="5925312"/>
            <a:ext cx="10600639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CBD5E1"/>
                </a:solidFill>
                <a:latin typeface="Segoe UI"/>
              </a:rPr>
              <a:t>La consigna pide 3 pruebas de concepto pulidas, no un juego completo.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77295" y="6382512"/>
            <a:ext cx="548640" cy="27432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/>
            <a:r>
              <a:rPr sz="1000">
                <a:solidFill>
                  <a:srgbClr val="475569"/>
                </a:solidFill>
                <a:latin typeface="Segoe UI"/>
              </a:rPr>
              <a:t>3/21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A78BFA"/>
                </a:solidFill>
                <a:latin typeface="Segoe UI"/>
              </a:rPr>
              <a:t>REGLA DE DEPENDENCIA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 i="0">
                <a:solidFill>
                  <a:srgbClr val="F8FAFC"/>
                </a:solidFill>
                <a:latin typeface="Segoe UI"/>
              </a:rPr>
              <a:t>La arquitectura la impone el compilador, no la disciplina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777240" cy="50292"/>
          </a:xfrm>
          <a:prstGeom prst="roundRect">
            <a:avLst>
              <a:gd name="adj" fmla="val 50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366113" y="1828800"/>
            <a:ext cx="2607868" cy="841248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9050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366113" y="1975104"/>
            <a:ext cx="26078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50" b="1" i="0">
                <a:solidFill>
                  <a:srgbClr val="2DD4BF"/>
                </a:solidFill>
                <a:latin typeface="Segoe UI"/>
              </a:rPr>
              <a:t>Presentación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66113" y="2286000"/>
            <a:ext cx="26078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94A3B8"/>
                </a:solidFill>
                <a:latin typeface="Segoe UI"/>
              </a:rPr>
              <a:t>MonoBehaviour · VContainer · Assets SO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670048" y="2715768"/>
            <a:ext cx="0" cy="292608"/>
          </a:xfrm>
          <a:prstGeom prst="line">
            <a:avLst/>
          </a:prstGeom>
          <a:ln w="19050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1366113" y="3054096"/>
            <a:ext cx="2607868" cy="841248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905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366113" y="3200400"/>
            <a:ext cx="26078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50" b="1" i="0">
                <a:solidFill>
                  <a:srgbClr val="A78BFA"/>
                </a:solidFill>
                <a:latin typeface="Segoe UI"/>
              </a:rPr>
              <a:t>Aplicación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66113" y="3511296"/>
            <a:ext cx="26078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94A3B8"/>
                </a:solidFill>
                <a:latin typeface="Segoe UI"/>
              </a:rPr>
              <a:t>Pipeline · Servicio de equipamiento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670048" y="3941063"/>
            <a:ext cx="0" cy="292609"/>
          </a:xfrm>
          <a:prstGeom prst="line">
            <a:avLst/>
          </a:prstGeom>
          <a:ln w="19050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1366113" y="4279392"/>
            <a:ext cx="2607868" cy="841248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905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366113" y="4425696"/>
            <a:ext cx="26078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50" b="1" i="0">
                <a:solidFill>
                  <a:srgbClr val="FBBF24"/>
                </a:solidFill>
                <a:latin typeface="Segoe UI"/>
              </a:rPr>
              <a:t>Dominio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66113" y="4736592"/>
            <a:ext cx="26078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94A3B8"/>
                </a:solidFill>
                <a:latin typeface="Segoe UI"/>
              </a:rPr>
              <a:t>Reglas · Contratos · Cálculo puro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532120" y="1828800"/>
            <a:ext cx="5120640" cy="2231136"/>
          </a:xfrm>
          <a:prstGeom prst="roundRect">
            <a:avLst>
              <a:gd name="adj" fmla="val 4000"/>
            </a:avLst>
          </a:prstGeom>
          <a:solidFill>
            <a:srgbClr val="0B1220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751576" y="2029968"/>
            <a:ext cx="4681727" cy="1792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300" b="0" i="0">
                <a:solidFill>
                  <a:srgbClr val="A78BFA"/>
                </a:solidFill>
                <a:latin typeface="Consolas"/>
              </a:rPr>
              <a:t>{</a:t>
            </a:r>
          </a:p>
          <a:p>
            <a:pPr>
              <a:lnSpc>
                <a:spcPct val="100000"/>
              </a:lnSpc>
            </a:pPr>
            <a:r>
              <a:rPr sz="1300" b="0" i="0">
                <a:solidFill>
                  <a:srgbClr val="A78BFA"/>
                </a:solidFill>
                <a:latin typeface="Consolas"/>
              </a:rPr>
              <a:t>  "name": "VoidHex.P2.Domain",</a:t>
            </a:r>
          </a:p>
          <a:p>
            <a:pPr>
              <a:lnSpc>
                <a:spcPct val="100000"/>
              </a:lnSpc>
            </a:pPr>
            <a:r>
              <a:rPr sz="1300" b="0" i="0">
                <a:solidFill>
                  <a:srgbClr val="A78BFA"/>
                </a:solidFill>
                <a:latin typeface="Consolas"/>
              </a:rPr>
              <a:t>  "references": [],</a:t>
            </a:r>
          </a:p>
          <a:p>
            <a:pPr>
              <a:lnSpc>
                <a:spcPct val="100000"/>
              </a:lnSpc>
            </a:pPr>
            <a:r>
              <a:rPr sz="1300" b="0" i="0">
                <a:solidFill>
                  <a:srgbClr val="A78BFA"/>
                </a:solidFill>
                <a:latin typeface="Consolas"/>
              </a:rPr>
              <a:t>  "noEngineReferences": true</a:t>
            </a:r>
          </a:p>
          <a:p>
            <a:pPr>
              <a:lnSpc>
                <a:spcPct val="100000"/>
              </a:lnSpc>
            </a:pPr>
            <a:r>
              <a:rPr sz="1300" b="0" i="0">
                <a:solidFill>
                  <a:srgbClr val="A78BFA"/>
                </a:solidFill>
                <a:latin typeface="Consolas"/>
              </a:rPr>
              <a:t>}</a:t>
            </a:r>
          </a:p>
          <a:p>
            <a:pPr>
              <a:lnSpc>
                <a:spcPct val="100000"/>
              </a:lnSpc>
            </a:pPr>
            <a:r>
              <a:rPr sz="1300" b="0" i="0">
                <a:solidFill>
                  <a:srgbClr val="A78BFA"/>
                </a:solidFill>
                <a:latin typeface="Consolas"/>
              </a:rPr>
              <a:t/>
            </a:r>
          </a:p>
          <a:p>
            <a:pPr>
              <a:lnSpc>
                <a:spcPct val="100000"/>
              </a:lnSpc>
            </a:pPr>
            <a:r>
              <a:rPr sz="1300" b="0" i="0">
                <a:solidFill>
                  <a:srgbClr val="94A3B8"/>
                </a:solidFill>
                <a:latin typeface="Consolas"/>
              </a:rPr>
              <a:t>// using UnityEngine;  →  no compila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32120" y="4114800"/>
            <a:ext cx="51206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CBD5E1"/>
                </a:solidFill>
                <a:latin typeface="Segoe UI"/>
              </a:rPr>
              <a:t>Podría prometer que el dominio es independiente del motor.
Mejor: lo demuestro rompiendo una línea en vivo.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925312"/>
            <a:ext cx="11057839" cy="475488"/>
          </a:xfrm>
          <a:prstGeom prst="roundRect">
            <a:avLst>
              <a:gd name="adj" fmla="val 12000"/>
            </a:avLst>
          </a:prstGeom>
          <a:solidFill>
            <a:srgbClr val="243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566928" y="5925312"/>
            <a:ext cx="54864" cy="475488"/>
          </a:xfrm>
          <a:prstGeom prst="round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4672" y="5925312"/>
            <a:ext cx="10600639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CBD5E1"/>
                </a:solidFill>
                <a:latin typeface="Segoe UI"/>
              </a:rPr>
              <a:t>Si alguien agrega using UnityEngine en el dominio, el proyecto no compila. Sin excepciones.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77295" y="6382512"/>
            <a:ext cx="548640" cy="27432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/>
            <a:r>
              <a:rPr sz="1000">
                <a:solidFill>
                  <a:srgbClr val="475569"/>
                </a:solidFill>
                <a:latin typeface="Segoe UI"/>
              </a:rPr>
              <a:t>4/21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2DD4BF"/>
                </a:solidFill>
                <a:latin typeface="Segoe UI"/>
              </a:rPr>
              <a:t>P1 · DESAFÍO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2800" b="1" i="0">
                <a:solidFill>
                  <a:srgbClr val="F8FAFC"/>
                </a:solidFill>
                <a:latin typeface="Segoe UI"/>
              </a:rPr>
              <a:t>Exponer el mapa sin God Object ni polling en Update()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777240" cy="50292"/>
          </a:xfrm>
          <a:prstGeom prst="roundRect">
            <a:avLst>
              <a:gd name="adj" fmla="val 5000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783080"/>
            <a:ext cx="4102101" cy="658368"/>
          </a:xfrm>
          <a:prstGeom prst="rect">
            <a:avLst/>
          </a:prstGeom>
          <a:solidFill>
            <a:srgbClr val="24334A"/>
          </a:solidFill>
          <a:ln w="9525">
            <a:solidFill>
              <a:srgbClr val="F871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4944" y="1837943"/>
            <a:ext cx="384606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050" b="1" i="0">
                <a:solidFill>
                  <a:srgbClr val="94A3B8"/>
                </a:solidFill>
                <a:latin typeface="Segoe UI"/>
              </a:rPr>
              <a:t>Lo que NO quiero</a:t>
            </a:r>
          </a:p>
        </p:txBody>
      </p:sp>
      <p:sp>
        <p:nvSpPr>
          <p:cNvPr id="8" name="Rectangle 7"/>
          <p:cNvSpPr/>
          <p:nvPr/>
        </p:nvSpPr>
        <p:spPr>
          <a:xfrm>
            <a:off x="4669029" y="1783080"/>
            <a:ext cx="6955737" cy="658368"/>
          </a:xfrm>
          <a:prstGeom prst="rect">
            <a:avLst/>
          </a:prstGeom>
          <a:solidFill>
            <a:srgbClr val="24334A"/>
          </a:solidFill>
          <a:ln w="9525">
            <a:solidFill>
              <a:srgbClr val="F871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97045" y="1837943"/>
            <a:ext cx="6699705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050" b="1" i="0">
                <a:solidFill>
                  <a:srgbClr val="94A3B8"/>
                </a:solidFill>
                <a:latin typeface="Segoe UI"/>
              </a:rPr>
              <a:t>Por qué es un problema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441448"/>
            <a:ext cx="4102101" cy="658368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4944" y="2496312"/>
            <a:ext cx="384606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350" b="0" i="0">
                <a:solidFill>
                  <a:srgbClr val="CBD5E1"/>
                </a:solidFill>
                <a:latin typeface="Segoe UI"/>
              </a:rPr>
              <a:t>Un GridManager que sabe todo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69029" y="2441448"/>
            <a:ext cx="6955737" cy="658368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97045" y="2496312"/>
            <a:ext cx="6699705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350" b="0" i="0">
                <a:solidFill>
                  <a:srgbClr val="CBD5E1"/>
                </a:solidFill>
                <a:latin typeface="Segoe UI"/>
              </a:rPr>
              <a:t>God Object: nadie sabe quién muta el estado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3099815"/>
            <a:ext cx="4102101" cy="658368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3154679"/>
            <a:ext cx="384606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350" b="0" i="0">
                <a:solidFill>
                  <a:srgbClr val="CBD5E1"/>
                </a:solidFill>
                <a:latin typeface="Segoe UI"/>
              </a:rPr>
              <a:t>Update() consultando el mapa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69029" y="3099815"/>
            <a:ext cx="6955737" cy="658368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97045" y="3154679"/>
            <a:ext cx="6699705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350" b="0" i="0">
                <a:solidFill>
                  <a:srgbClr val="CBD5E1"/>
                </a:solidFill>
                <a:latin typeface="Segoe UI"/>
              </a:rPr>
              <a:t>CPU por frame y acoplamiento al motor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3758184"/>
            <a:ext cx="4102101" cy="658368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4944" y="3813048"/>
            <a:ext cx="384606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350" b="0" i="0">
                <a:solidFill>
                  <a:srgbClr val="CBD5E1"/>
                </a:solidFill>
                <a:latin typeface="Segoe UI"/>
              </a:rPr>
              <a:t>Un Event Bus global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69029" y="3758184"/>
            <a:ext cx="6955737" cy="658368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97045" y="3813048"/>
            <a:ext cx="6699705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350" b="0" i="0">
                <a:solidFill>
                  <a:srgbClr val="CBD5E1"/>
                </a:solidFill>
                <a:latin typeface="Segoe UI"/>
              </a:rPr>
              <a:t>Dependencias ocultas, imposible de depurar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4480560"/>
            <a:ext cx="110578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CBD5E1"/>
                </a:solidFill>
                <a:latin typeface="Segoe UI"/>
              </a:rPr>
              <a:t>Tres consumidores, tres necesidades:
la IA lee · los comandos validan · la UI dibuja.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77295" y="6382512"/>
            <a:ext cx="548640" cy="27432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/>
            <a:r>
              <a:rPr sz="1000">
                <a:solidFill>
                  <a:srgbClr val="475569"/>
                </a:solidFill>
                <a:latin typeface="Segoe UI"/>
              </a:rPr>
              <a:t>5/21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2DD4BF"/>
                </a:solidFill>
                <a:latin typeface="Segoe UI"/>
              </a:rPr>
              <a:t>P1 · SOLUCIÓN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 i="0">
                <a:solidFill>
                  <a:srgbClr val="F8FAFC"/>
                </a:solidFill>
                <a:latin typeface="Segoe UI"/>
              </a:rPr>
              <a:t>Dos contratos: ningún consumidor puede hacer lo del otro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777240" cy="50292"/>
          </a:xfrm>
          <a:prstGeom prst="roundRect">
            <a:avLst>
              <a:gd name="adj" fmla="val 5000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44287" y="2912364"/>
            <a:ext cx="2103120" cy="804672"/>
          </a:xfrm>
          <a:prstGeom prst="roundRect">
            <a:avLst>
              <a:gd name="adj" fmla="val 10000"/>
            </a:avLst>
          </a:prstGeom>
          <a:solidFill>
            <a:srgbClr val="24334A"/>
          </a:solidFill>
          <a:ln w="19050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044287" y="2985516"/>
            <a:ext cx="2103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2DD4BF"/>
                </a:solidFill>
                <a:latin typeface="Segoe UI"/>
              </a:rPr>
              <a:t>GridModel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44287" y="3314700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94A3B8"/>
                </a:solidFill>
                <a:latin typeface="Segoe UI"/>
              </a:rPr>
              <a:t>único dueño del estado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" y="1828800"/>
            <a:ext cx="2286000" cy="86868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40664" y="1938528"/>
            <a:ext cx="2029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F8FAFC"/>
                </a:solidFill>
                <a:latin typeface="Segoe UI"/>
              </a:rPr>
              <a:t>IGridQueryService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664" y="2240280"/>
            <a:ext cx="202996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94A3B8"/>
                </a:solidFill>
                <a:latin typeface="Segoe UI"/>
              </a:rPr>
              <a:t>lectura síncrona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93047" y="1828800"/>
            <a:ext cx="2286000" cy="86868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421063" y="1938528"/>
            <a:ext cx="2029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F8FAFC"/>
                </a:solidFill>
                <a:latin typeface="Segoe UI"/>
              </a:rPr>
              <a:t>IGridStatePublisher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21063" y="2240280"/>
            <a:ext cx="202996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94A3B8"/>
                </a:solidFill>
                <a:latin typeface="Segoe UI"/>
              </a:rPr>
              <a:t>eventos C#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8" y="3950208"/>
            <a:ext cx="2286000" cy="777240"/>
          </a:xfrm>
          <a:prstGeom prst="roundRect">
            <a:avLst>
              <a:gd name="adj" fmla="val 6000"/>
            </a:avLst>
          </a:prstGeom>
          <a:solidFill>
            <a:srgbClr val="142B2E"/>
          </a:solidFill>
          <a:ln w="15240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40664" y="4059936"/>
            <a:ext cx="2029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2DD4BF"/>
                </a:solidFill>
                <a:latin typeface="Segoe UI"/>
              </a:rPr>
              <a:t>Pathfinding / 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0664" y="4352544"/>
            <a:ext cx="2029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94A3B8"/>
                </a:solidFill>
                <a:latin typeface="Segoe UI"/>
              </a:rPr>
              <a:t>no puede mutar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293047" y="3950208"/>
            <a:ext cx="2286000" cy="777240"/>
          </a:xfrm>
          <a:prstGeom prst="roundRect">
            <a:avLst>
              <a:gd name="adj" fmla="val 6000"/>
            </a:avLst>
          </a:prstGeom>
          <a:solidFill>
            <a:srgbClr val="142B2E"/>
          </a:solidFill>
          <a:ln w="15240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421063" y="4059936"/>
            <a:ext cx="2029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2DD4BF"/>
                </a:solidFill>
                <a:latin typeface="Segoe UI"/>
              </a:rPr>
              <a:t>GridPresenter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21063" y="4352544"/>
            <a:ext cx="2029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94A3B8"/>
                </a:solidFill>
                <a:latin typeface="Segoe UI"/>
              </a:rPr>
              <a:t>no puede alterar reglas</a:t>
            </a:r>
          </a:p>
        </p:txBody>
      </p:sp>
      <p:cxnSp>
        <p:nvCxnSpPr>
          <p:cNvPr id="21" name="Connector 20"/>
          <p:cNvCxnSpPr/>
          <p:nvPr/>
        </p:nvCxnSpPr>
        <p:spPr>
          <a:xfrm flipV="1">
            <a:off x="1755648" y="2752344"/>
            <a:ext cx="0" cy="1179576"/>
          </a:xfrm>
          <a:prstGeom prst="line">
            <a:avLst/>
          </a:prstGeom>
          <a:ln w="15875">
            <a:solidFill>
              <a:srgbClr val="2DD4B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10436047" y="2752344"/>
            <a:ext cx="0" cy="1179576"/>
          </a:xfrm>
          <a:prstGeom prst="line">
            <a:avLst/>
          </a:prstGeom>
          <a:ln w="15875">
            <a:solidFill>
              <a:srgbClr val="2DD4B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>
            <a:off x="2916936" y="3314700"/>
            <a:ext cx="2127351" cy="0"/>
          </a:xfrm>
          <a:prstGeom prst="line">
            <a:avLst/>
          </a:prstGeom>
          <a:ln w="15875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7147407" y="3314700"/>
            <a:ext cx="2127352" cy="0"/>
          </a:xfrm>
          <a:prstGeom prst="line">
            <a:avLst/>
          </a:prstGeom>
          <a:ln w="15875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66928" y="5074920"/>
            <a:ext cx="1105783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CBD5E1"/>
                </a:solidFill>
                <a:latin typeface="Segoe UI"/>
              </a:rPr>
              <a:t>Solo GridModel muta, y esos métodos no están en ningún contrato: es el tipo del constructor, no una convención.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5925312"/>
            <a:ext cx="11057839" cy="475488"/>
          </a:xfrm>
          <a:prstGeom prst="roundRect">
            <a:avLst>
              <a:gd name="adj" fmla="val 12000"/>
            </a:avLst>
          </a:prstGeom>
          <a:solidFill>
            <a:srgbClr val="243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ounded Rectangle 26"/>
          <p:cNvSpPr/>
          <p:nvPr/>
        </p:nvSpPr>
        <p:spPr>
          <a:xfrm>
            <a:off x="566928" y="5925312"/>
            <a:ext cx="54864" cy="475488"/>
          </a:xfrm>
          <a:prstGeom prst="round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4672" y="5925312"/>
            <a:ext cx="10600639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CBD5E1"/>
                </a:solidFill>
                <a:latin typeface="Segoe UI"/>
              </a:rPr>
              <a:t>El Pathfinder recibe IGridQueryService. Aunque quisiera, no puede escribir el mapa.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77295" y="6382512"/>
            <a:ext cx="548640" cy="27432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/>
            <a:r>
              <a:rPr sz="1000">
                <a:solidFill>
                  <a:srgbClr val="475569"/>
                </a:solidFill>
                <a:latin typeface="Segoe UI"/>
              </a:rPr>
              <a:t>6/21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2DD4BF"/>
                </a:solidFill>
                <a:latin typeface="Segoe UI"/>
              </a:rPr>
              <a:t>P1 · EVIDENCIA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2800" b="1" i="0">
                <a:solidFill>
                  <a:srgbClr val="F8FAFC"/>
                </a:solidFill>
                <a:latin typeface="Segoe UI"/>
              </a:rPr>
              <a:t>Reactivo de verdad: sin mutación real, no hay trabajo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777240" cy="50292"/>
          </a:xfrm>
          <a:prstGeom prst="roundRect">
            <a:avLst>
              <a:gd name="adj" fmla="val 5000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66928" y="1783080"/>
            <a:ext cx="3493008" cy="1481328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04672" y="1847088"/>
            <a:ext cx="30175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4ADE80"/>
                </a:solidFill>
                <a:latin typeface="Segoe U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48716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F8FAFC"/>
                </a:solidFill>
                <a:latin typeface="Segoe UI"/>
              </a:rPr>
              <a:t>evento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788920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94A3B8"/>
                </a:solidFill>
                <a:latin typeface="Segoe UI"/>
              </a:rPr>
              <a:t>por cada mutación real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79392" y="1783080"/>
            <a:ext cx="3493008" cy="1481328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517136" y="1847088"/>
            <a:ext cx="30175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F8FAFC"/>
                </a:solidFill>
                <a:latin typeface="Segoe UI"/>
              </a:rPr>
              <a:t>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17136" y="248716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F8FAFC"/>
                </a:solidFill>
                <a:latin typeface="Segoe UI"/>
              </a:rPr>
              <a:t>eventos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17136" y="2788920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94A3B8"/>
                </a:solidFill>
                <a:latin typeface="Segoe UI"/>
              </a:rPr>
              <a:t>al reescribir el mismo valor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91855" y="1783080"/>
            <a:ext cx="3493008" cy="1481328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229599" y="1847088"/>
            <a:ext cx="30175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94A3B8"/>
                </a:solidFill>
                <a:latin typeface="Segoe U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599" y="248716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F8FAFC"/>
                </a:solidFill>
                <a:latin typeface="Segoe UI"/>
              </a:rPr>
              <a:t>redibujos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599" y="2788920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94A3B8"/>
                </a:solidFill>
                <a:latin typeface="Segoe UI"/>
              </a:rPr>
              <a:t>en un mapa 12×12 con 4 obstáculos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36118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4ADE80"/>
                </a:solidFill>
                <a:latin typeface="Segoe U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9536" y="3611880"/>
            <a:ext cx="1069207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CBD5E1"/>
                </a:solidFill>
                <a:latin typeface="Consolas"/>
              </a:rPr>
              <a:t>IGridStatePublisher_ExposesOnlyEvents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4014216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4ADE80"/>
                </a:solidFill>
                <a:latin typeface="Segoe UI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9536" y="4014216"/>
            <a:ext cx="1069207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CBD5E1"/>
                </a:solidFill>
                <a:latin typeface="Consolas"/>
              </a:rPr>
              <a:t>IGridQueryService_ExposesNoMutatingMembers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4416552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4ADE80"/>
                </a:solidFill>
                <a:latin typeface="Segoe UI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9536" y="4416552"/>
            <a:ext cx="1069207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CBD5E1"/>
                </a:solidFill>
                <a:latin typeface="Consolas"/>
              </a:rPr>
              <a:t>SetCell_WithSameValue_DoesNotRaiseChange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925312"/>
            <a:ext cx="11057839" cy="475488"/>
          </a:xfrm>
          <a:prstGeom prst="roundRect">
            <a:avLst>
              <a:gd name="adj" fmla="val 12000"/>
            </a:avLst>
          </a:prstGeom>
          <a:solidFill>
            <a:srgbClr val="243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566928" y="5925312"/>
            <a:ext cx="54864" cy="475488"/>
          </a:xfrm>
          <a:prstGeom prst="round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" y="5925312"/>
            <a:ext cx="10600639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CBD5E1"/>
                </a:solidFill>
                <a:latin typeface="Segoe UI"/>
              </a:rPr>
              <a:t>Los dos primeros no prueban comportamiento: prueban forma, por reflexión.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77295" y="6382512"/>
            <a:ext cx="548640" cy="27432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/>
            <a:r>
              <a:rPr sz="1000">
                <a:solidFill>
                  <a:srgbClr val="475569"/>
                </a:solidFill>
                <a:latin typeface="Segoe UI"/>
              </a:rPr>
              <a:t>7/21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2DD4BF"/>
                </a:solidFill>
                <a:latin typeface="Segoe UI"/>
              </a:rPr>
              <a:t>P1 · ALCANCE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2800" b="1" i="0">
                <a:solidFill>
                  <a:srgbClr val="F8FAFC"/>
                </a:solidFill>
                <a:latin typeface="Segoe UI"/>
              </a:rPr>
              <a:t>El A* es el sustrato, no la tesis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777240" cy="50292"/>
          </a:xfrm>
          <a:prstGeom prst="roundRect">
            <a:avLst>
              <a:gd name="adj" fmla="val 5000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783080"/>
            <a:ext cx="11057839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CBD5E1"/>
                </a:solidFill>
                <a:latin typeface="Segoe UI"/>
              </a:rPr>
              <a:t>El informe largo del TP1 desarrolla grilla y pathfinding; el desafío declarado es la exposición del estado.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2788920"/>
            <a:ext cx="3200953" cy="566928"/>
          </a:xfrm>
          <a:prstGeom prst="rect">
            <a:avLst/>
          </a:prstGeom>
          <a:solidFill>
            <a:srgbClr val="24334A"/>
          </a:solidFill>
          <a:ln w="9525">
            <a:solidFill>
              <a:srgbClr val="F871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4944" y="2843784"/>
            <a:ext cx="2944921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050" b="1" i="0">
                <a:solidFill>
                  <a:srgbClr val="94A3B8"/>
                </a:solidFill>
                <a:latin typeface="Segoe UI"/>
              </a:rPr>
              <a:t>Fuera de alcance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3767881" y="2788920"/>
            <a:ext cx="7856885" cy="566928"/>
          </a:xfrm>
          <a:prstGeom prst="rect">
            <a:avLst/>
          </a:prstGeom>
          <a:solidFill>
            <a:srgbClr val="24334A"/>
          </a:solidFill>
          <a:ln w="9525">
            <a:solidFill>
              <a:srgbClr val="F871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95897" y="2843784"/>
            <a:ext cx="7600853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050" b="1" i="0">
                <a:solidFill>
                  <a:srgbClr val="94A3B8"/>
                </a:solidFill>
                <a:latin typeface="Segoe UI"/>
              </a:rPr>
              <a:t>Justificación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3355848"/>
            <a:ext cx="3200953" cy="566928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44" y="3410712"/>
            <a:ext cx="2944921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250" b="0" i="0">
                <a:solidFill>
                  <a:srgbClr val="CBD5E1"/>
                </a:solidFill>
                <a:latin typeface="Segoe UI"/>
              </a:rPr>
              <a:t>Mapas 3D multicapa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767881" y="3355848"/>
            <a:ext cx="7856885" cy="566928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95897" y="3410712"/>
            <a:ext cx="7600853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250" b="0" i="0">
                <a:solidFill>
                  <a:srgbClr val="CBD5E1"/>
                </a:solidFill>
                <a:latin typeface="Segoe UI"/>
              </a:rPr>
              <a:t>El desafío es de exposición de estado, no de geometría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922776"/>
            <a:ext cx="3200953" cy="566928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4944" y="3977639"/>
            <a:ext cx="2944921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250" b="0" i="0">
                <a:solidFill>
                  <a:srgbClr val="CBD5E1"/>
                </a:solidFill>
                <a:latin typeface="Segoe UI"/>
              </a:rPr>
              <a:t>Niebla de guerra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767881" y="3922776"/>
            <a:ext cx="7856885" cy="566928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95897" y="3977639"/>
            <a:ext cx="7600853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250" b="0" i="0">
                <a:solidFill>
                  <a:srgbClr val="CBD5E1"/>
                </a:solidFill>
                <a:latin typeface="Segoe UI"/>
              </a:rPr>
              <a:t>Es un sistema de conocimiento, ajeno a la exposición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4489704"/>
            <a:ext cx="3200953" cy="566928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4944" y="4544568"/>
            <a:ext cx="2944921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250" b="0" i="0">
                <a:solidFill>
                  <a:srgbClr val="CBD5E1"/>
                </a:solidFill>
                <a:latin typeface="Segoe UI"/>
              </a:rPr>
              <a:t>Unidades como bloqueos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767881" y="4489704"/>
            <a:ext cx="7856885" cy="566928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895897" y="4544568"/>
            <a:ext cx="7600853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250" b="0" i="0">
                <a:solidFill>
                  <a:srgbClr val="CBD5E1"/>
                </a:solidFill>
                <a:latin typeface="Segoe UI"/>
              </a:rPr>
              <a:t>Necesita el modelo de turnos, que es P2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5056631"/>
            <a:ext cx="3200953" cy="566928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4944" y="5111495"/>
            <a:ext cx="2944921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250" b="0" i="0">
                <a:solidFill>
                  <a:srgbClr val="CBD5E1"/>
                </a:solidFill>
                <a:latin typeface="Segoe UI"/>
              </a:rPr>
              <a:t>Event Bus global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767881" y="5056631"/>
            <a:ext cx="7856885" cy="566928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895897" y="5111495"/>
            <a:ext cx="7600853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250" b="0" i="0">
                <a:solidFill>
                  <a:srgbClr val="CBD5E1"/>
                </a:solidFill>
                <a:latin typeface="Segoe UI"/>
              </a:rPr>
              <a:t>Descartado en el TP1: dependencias ocultas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5925312"/>
            <a:ext cx="11057839" cy="475488"/>
          </a:xfrm>
          <a:prstGeom prst="roundRect">
            <a:avLst>
              <a:gd name="adj" fmla="val 12000"/>
            </a:avLst>
          </a:prstGeom>
          <a:solidFill>
            <a:srgbClr val="243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ounded Rectangle 27"/>
          <p:cNvSpPr/>
          <p:nvPr/>
        </p:nvSpPr>
        <p:spPr>
          <a:xfrm>
            <a:off x="566928" y="5925312"/>
            <a:ext cx="54864" cy="475488"/>
          </a:xfrm>
          <a:prstGeom prst="round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4672" y="5925312"/>
            <a:ext cx="10600639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CBD5E1"/>
                </a:solidFill>
                <a:latin typeface="Segoe UI"/>
              </a:rPr>
              <a:t>Cada exclusión tiene una ruta de extensión documentada, no es un olvido.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77295" y="6382512"/>
            <a:ext cx="548640" cy="27432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/>
            <a:r>
              <a:rPr sz="1000">
                <a:solidFill>
                  <a:srgbClr val="475569"/>
                </a:solidFill>
                <a:latin typeface="Segoe UI"/>
              </a:rPr>
              <a:t>8/21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A78BFA"/>
                </a:solidFill>
                <a:latin typeface="Segoe UI"/>
              </a:rPr>
              <a:t>P2 · DESAFÍO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 i="0">
                <a:solidFill>
                  <a:srgbClr val="F8FAFC"/>
                </a:solidFill>
                <a:latin typeface="Segoe UI"/>
              </a:rPr>
              <a:t>Mover → Atacar → Mover, sin que la animación decida las reglas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777240" cy="50292"/>
          </a:xfrm>
          <a:prstGeom prst="roundRect">
            <a:avLst>
              <a:gd name="adj" fmla="val 50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783080"/>
            <a:ext cx="3685946" cy="658368"/>
          </a:xfrm>
          <a:prstGeom prst="rect">
            <a:avLst/>
          </a:prstGeom>
          <a:solidFill>
            <a:srgbClr val="24334A"/>
          </a:solidFill>
          <a:ln w="9525">
            <a:solidFill>
              <a:srgbClr val="F871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4944" y="1837943"/>
            <a:ext cx="342991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050" b="1" i="0">
                <a:solidFill>
                  <a:srgbClr val="94A3B8"/>
                </a:solidFill>
                <a:latin typeface="Segoe UI"/>
              </a:rPr>
              <a:t>Lo que NO quiero</a:t>
            </a:r>
          </a:p>
        </p:txBody>
      </p:sp>
      <p:sp>
        <p:nvSpPr>
          <p:cNvPr id="8" name="Rectangle 7"/>
          <p:cNvSpPr/>
          <p:nvPr/>
        </p:nvSpPr>
        <p:spPr>
          <a:xfrm>
            <a:off x="4252874" y="1783080"/>
            <a:ext cx="7371892" cy="658368"/>
          </a:xfrm>
          <a:prstGeom prst="rect">
            <a:avLst/>
          </a:prstGeom>
          <a:solidFill>
            <a:srgbClr val="24334A"/>
          </a:solidFill>
          <a:ln w="9525">
            <a:solidFill>
              <a:srgbClr val="F871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0890" y="1837943"/>
            <a:ext cx="71158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050" b="1" i="0">
                <a:solidFill>
                  <a:srgbClr val="94A3B8"/>
                </a:solidFill>
                <a:latin typeface="Segoe UI"/>
              </a:rPr>
              <a:t>Por qué es un problema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441448"/>
            <a:ext cx="3685946" cy="658368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4944" y="2496312"/>
            <a:ext cx="342991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300" b="0" i="0">
                <a:solidFill>
                  <a:srgbClr val="CBD5E1"/>
                </a:solidFill>
                <a:latin typeface="Segoe UI"/>
              </a:rPr>
              <a:t>TurnManager con corrutinas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52874" y="2441448"/>
            <a:ext cx="7371892" cy="658368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80890" y="2496312"/>
            <a:ext cx="71158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300" b="0" i="0">
                <a:solidFill>
                  <a:srgbClr val="CBD5E1"/>
                </a:solidFill>
                <a:latin typeface="Segoe UI"/>
              </a:rPr>
              <a:t>WaitForSeconds mete el tiempo del arte dentro de la regla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3099815"/>
            <a:ext cx="3685946" cy="658368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3154679"/>
            <a:ext cx="342991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300" b="0" i="0">
                <a:solidFill>
                  <a:srgbClr val="CBD5E1"/>
                </a:solidFill>
                <a:latin typeface="Segoe UI"/>
              </a:rPr>
              <a:t>FSM con un estado por acción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52874" y="3099815"/>
            <a:ext cx="7371892" cy="658368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80890" y="3154679"/>
            <a:ext cx="71158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300" b="0" i="0">
                <a:solidFill>
                  <a:srgbClr val="CBD5E1"/>
                </a:solidFill>
                <a:latin typeface="Segoe UI"/>
              </a:rPr>
              <a:t>Explota en combinaciones al agregar módulos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3758184"/>
            <a:ext cx="3685946" cy="658368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4944" y="3813048"/>
            <a:ext cx="342991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300" b="0" i="0">
                <a:solidFill>
                  <a:srgbClr val="CBD5E1"/>
                </a:solidFill>
                <a:latin typeface="Segoe UI"/>
              </a:rPr>
              <a:t>Un comando por cada orden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52874" y="3758184"/>
            <a:ext cx="7371892" cy="658368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80890" y="3813048"/>
            <a:ext cx="71158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300" b="0" i="0">
                <a:solidFill>
                  <a:srgbClr val="CBD5E1"/>
                </a:solidFill>
                <a:latin typeface="Segoe UI"/>
              </a:rPr>
              <a:t>Obliga a tocar el controlador central cada vez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4480560"/>
            <a:ext cx="1105783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CBD5E1"/>
                </a:solidFill>
                <a:latin typeface="Segoe UI"/>
              </a:rPr>
              <a:t>La pregunta difícil no es “¿puede moverse?”.
Es cuándo se aplica el efecto: antes o después de la animación.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77295" y="6382512"/>
            <a:ext cx="548640" cy="27432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/>
            <a:r>
              <a:rPr sz="1000">
                <a:solidFill>
                  <a:srgbClr val="475569"/>
                </a:solidFill>
                <a:latin typeface="Segoe UI"/>
              </a:rPr>
              <a:t>9/21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A78BFA"/>
                </a:solidFill>
                <a:latin typeface="Segoe UI"/>
              </a:rPr>
              <a:t>P2 · SOLUCIÓN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 i="0">
                <a:solidFill>
                  <a:srgbClr val="F8FAFC"/>
                </a:solidFill>
                <a:latin typeface="Segoe UI"/>
              </a:rPr>
              <a:t>La regla se aplica al instante, la animación espera después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777240" cy="50292"/>
          </a:xfrm>
          <a:prstGeom prst="roundRect">
            <a:avLst>
              <a:gd name="adj" fmla="val 50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66928" y="1874519"/>
            <a:ext cx="1962851" cy="841248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 w="1778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66928" y="2020824"/>
            <a:ext cx="196285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A78BFA"/>
                </a:solidFill>
                <a:latin typeface="Segoe UI"/>
              </a:rPr>
              <a:t>ICommand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331720"/>
            <a:ext cx="1962851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94A3B8"/>
                </a:solidFill>
                <a:latin typeface="Segoe UI"/>
              </a:rPr>
              <a:t>inmutable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57211" y="2295144"/>
            <a:ext cx="256032" cy="0"/>
          </a:xfrm>
          <a:prstGeom prst="line">
            <a:avLst/>
          </a:prstGeom>
          <a:ln w="15875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2840675" y="1874519"/>
            <a:ext cx="1962851" cy="841248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 w="1778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2840675" y="2020824"/>
            <a:ext cx="196285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A78BFA"/>
                </a:solidFill>
                <a:latin typeface="Segoe UI"/>
              </a:rPr>
              <a:t>Validate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40675" y="2331720"/>
            <a:ext cx="1962851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94A3B8"/>
                </a:solidFill>
                <a:latin typeface="Segoe UI"/>
              </a:rPr>
              <a:t>¿PA / objetivo?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830958" y="2295144"/>
            <a:ext cx="256032" cy="0"/>
          </a:xfrm>
          <a:prstGeom prst="line">
            <a:avLst/>
          </a:prstGeom>
          <a:ln w="15875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5114422" y="1874519"/>
            <a:ext cx="1962851" cy="841248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 w="17780">
            <a:solidFill>
              <a:srgbClr val="4ADE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5114422" y="2020824"/>
            <a:ext cx="196285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4ADE80"/>
                </a:solidFill>
                <a:latin typeface="Segoe UI"/>
              </a:rPr>
              <a:t>Execute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14422" y="2331720"/>
            <a:ext cx="1962851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94A3B8"/>
                </a:solidFill>
                <a:latin typeface="Segoe UI"/>
              </a:rPr>
              <a:t>instantáneo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104705" y="2295144"/>
            <a:ext cx="256032" cy="0"/>
          </a:xfrm>
          <a:prstGeom prst="line">
            <a:avLst/>
          </a:prstGeom>
          <a:ln w="15875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7388169" y="1874519"/>
            <a:ext cx="1962851" cy="841248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 w="17780">
            <a:solidFill>
              <a:srgbClr val="4ADE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388169" y="2020824"/>
            <a:ext cx="196285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4ADE80"/>
                </a:solidFill>
                <a:latin typeface="Segoe UI"/>
              </a:rPr>
              <a:t>Notifica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88169" y="2331720"/>
            <a:ext cx="1962851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94A3B8"/>
                </a:solidFill>
                <a:latin typeface="Segoe UI"/>
              </a:rPr>
              <a:t>estado ya cambiado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378452" y="2295144"/>
            <a:ext cx="256032" cy="0"/>
          </a:xfrm>
          <a:prstGeom prst="line">
            <a:avLst/>
          </a:prstGeom>
          <a:ln w="15875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9661916" y="1874519"/>
            <a:ext cx="1962851" cy="841248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 w="1778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661916" y="2020824"/>
            <a:ext cx="196285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94A3B8"/>
                </a:solidFill>
                <a:latin typeface="Segoe UI"/>
              </a:rPr>
              <a:t>await vista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61916" y="2331720"/>
            <a:ext cx="1962851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94A3B8"/>
                </a:solidFill>
                <a:latin typeface="Segoe UI"/>
              </a:rPr>
              <a:t>animación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822100" y="2734056"/>
            <a:ext cx="0" cy="365759"/>
          </a:xfrm>
          <a:prstGeom prst="line">
            <a:avLst/>
          </a:prstGeom>
          <a:ln w="15875">
            <a:solidFill>
              <a:srgbClr val="F8717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2575499" y="3118104"/>
            <a:ext cx="2057400" cy="502920"/>
          </a:xfrm>
          <a:prstGeom prst="roundRect">
            <a:avLst>
              <a:gd name="adj" fmla="val 6000"/>
            </a:avLst>
          </a:prstGeom>
          <a:solidFill>
            <a:srgbClr val="2E1515"/>
          </a:solidFill>
          <a:ln w="12700">
            <a:solidFill>
              <a:srgbClr val="F871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2575499" y="3209544"/>
            <a:ext cx="2057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F87171"/>
                </a:solidFill>
                <a:latin typeface="Segoe UI"/>
              </a:rPr>
              <a:t>rechazo con motivo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3931920"/>
            <a:ext cx="3493008" cy="105156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786384" y="4059936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A78BFA"/>
                </a:solidFill>
                <a:latin typeface="Segoe UI"/>
              </a:rPr>
              <a:t>Único dueño del estado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6384" y="438912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CBD5E1"/>
                </a:solidFill>
                <a:latin typeface="Segoe UI"/>
              </a:rPr>
              <a:t>CommandProcessor. Nadie más lo reemplaza.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279392" y="3931920"/>
            <a:ext cx="3493008" cy="105156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4498848" y="4059936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A78BFA"/>
                </a:solidFill>
                <a:latin typeface="Segoe UI"/>
              </a:rPr>
              <a:t>Cola serializada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98848" y="438912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CBD5E1"/>
                </a:solidFill>
                <a:latin typeface="Segoe UI"/>
              </a:rPr>
              <a:t>Dos envíos seguidos no se intercalan.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991855" y="3931920"/>
            <a:ext cx="3493008" cy="105156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8211311" y="4059936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A78BFA"/>
                </a:solidFill>
                <a:latin typeface="Segoe UI"/>
              </a:rPr>
              <a:t>Solo tres fases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11311" y="438912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CBD5E1"/>
                </a:solidFill>
                <a:latin typeface="Segoe UI"/>
              </a:rPr>
              <a:t>PlayerTurn · Executing · EnemyTurn.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66928" y="5925312"/>
            <a:ext cx="11057839" cy="475488"/>
          </a:xfrm>
          <a:prstGeom prst="roundRect">
            <a:avLst>
              <a:gd name="adj" fmla="val 12000"/>
            </a:avLst>
          </a:prstGeom>
          <a:solidFill>
            <a:srgbClr val="243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ounded Rectangle 37"/>
          <p:cNvSpPr/>
          <p:nvPr/>
        </p:nvSpPr>
        <p:spPr>
          <a:xfrm>
            <a:off x="566928" y="5925312"/>
            <a:ext cx="54864" cy="475488"/>
          </a:xfrm>
          <a:prstGeom prst="round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04672" y="5925312"/>
            <a:ext cx="10600639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CBD5E1"/>
                </a:solidFill>
                <a:latin typeface="Segoe UI"/>
              </a:rPr>
              <a:t>Cuando el pipeline vuelve de Execute, el estado ya cambió. La animación no puede condicionarlo.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77295" y="6382512"/>
            <a:ext cx="548640" cy="27432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/>
            <a:r>
              <a:rPr sz="1000">
                <a:solidFill>
                  <a:srgbClr val="475569"/>
                </a:solidFill>
                <a:latin typeface="Segoe UI"/>
              </a:rPr>
              <a:t>10/21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A78BFA"/>
                </a:solidFill>
                <a:latin typeface="Segoe UI"/>
              </a:rPr>
              <a:t>P2 · EVIDENCIA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2800" b="1" i="0">
                <a:solidFill>
                  <a:srgbClr val="F8FAFC"/>
                </a:solidFill>
                <a:latin typeface="Segoe UI"/>
              </a:rPr>
              <a:t>El estado cambia antes de que termine la animación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777240" cy="50292"/>
          </a:xfrm>
          <a:prstGeom prst="roundRect">
            <a:avLst>
              <a:gd name="adj" fmla="val 50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66928" y="1783080"/>
            <a:ext cx="11057839" cy="749808"/>
          </a:xfrm>
          <a:prstGeom prst="roundRect">
            <a:avLst>
              <a:gd name="adj" fmla="val 10000"/>
            </a:avLst>
          </a:prstGeom>
          <a:solidFill>
            <a:srgbClr val="24334A"/>
          </a:solidFill>
          <a:ln w="1778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41247" y="1783080"/>
            <a:ext cx="10509199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A78BFA"/>
                </a:solidFill>
                <a:latin typeface="Consolas"/>
              </a:rPr>
              <a:t>Submit_AppliesLogicBeforeTheAnimationCompletes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788920"/>
            <a:ext cx="411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A78BFA"/>
                </a:solidFill>
                <a:latin typeface="Segoe U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2807208"/>
            <a:ext cx="4572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8FAFC"/>
                </a:solidFill>
                <a:latin typeface="Segoe UI"/>
              </a:rPr>
              <a:t>Posición y PA ya cambiaron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3099815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94A3B8"/>
                </a:solidFill>
                <a:latin typeface="Segoe UI"/>
              </a:rPr>
              <a:t>el efecto lógico está aplicado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3575303"/>
            <a:ext cx="411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A78BFA"/>
                </a:solidFill>
                <a:latin typeface="Segoe U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3593591"/>
            <a:ext cx="4572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8FAFC"/>
                </a:solidFill>
                <a:latin typeface="Segoe UI"/>
              </a:rPr>
              <a:t>Phase == Executing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" y="388620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94A3B8"/>
                </a:solidFill>
                <a:latin typeface="Segoe UI"/>
              </a:rPr>
              <a:t>la animación está en curso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4361688"/>
            <a:ext cx="411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A78BFA"/>
                </a:solidFill>
                <a:latin typeface="Segoe U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8" y="4379975"/>
            <a:ext cx="4572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8FAFC"/>
                </a:solidFill>
                <a:latin typeface="Segoe UI"/>
              </a:rPr>
              <a:t>El Task sigue pendiente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4128" y="4672583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94A3B8"/>
                </a:solidFill>
                <a:latin typeface="Segoe UI"/>
              </a:rPr>
              <a:t>todavía no terminó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92240" y="2743200"/>
            <a:ext cx="5120640" cy="96012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 w="15240">
            <a:solidFill>
              <a:srgbClr val="4ADE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693408" y="2871216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4ADE80"/>
                </a:solidFill>
                <a:latin typeface="Segoe UI"/>
              </a:rPr>
              <a:t>Segundo test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93408" y="3127248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CBD5E1"/>
                </a:solidFill>
                <a:latin typeface="Consolas"/>
              </a:rPr>
              <a:t>Submit_SecondCommand_QueuesUntil
TheFirstAnimationCompletes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92240" y="3886200"/>
            <a:ext cx="5120640" cy="1481328"/>
          </a:xfrm>
          <a:prstGeom prst="roundRect">
            <a:avLst>
              <a:gd name="adj" fmla="val 6000"/>
            </a:avLst>
          </a:prstGeom>
          <a:solidFill>
            <a:srgbClr val="24334A"/>
          </a:solidFill>
          <a:ln w="1397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693408" y="4005072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A78BFA"/>
                </a:solidFill>
                <a:latin typeface="Segoe UI"/>
              </a:rPr>
              <a:t>CORRIDA REAL DE LA ESCENA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93408" y="4279392"/>
            <a:ext cx="47548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CBD5E1"/>
                </a:solidFill>
                <a:latin typeface="Consolas"/>
              </a:rPr>
              <a:t>Mover (2,0) 2 PA → Atacar 2 PA → Mover (3,0) 1 PA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93408" y="4590288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4ADE80"/>
                </a:solidFill>
                <a:latin typeface="Segoe UI"/>
              </a:rPr>
              <a:t>PA 6 → 1   ·   hull enemigo 6 → 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925312"/>
            <a:ext cx="11057839" cy="475488"/>
          </a:xfrm>
          <a:prstGeom prst="roundRect">
            <a:avLst>
              <a:gd name="adj" fmla="val 12000"/>
            </a:avLst>
          </a:prstGeom>
          <a:solidFill>
            <a:srgbClr val="243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566928" y="5925312"/>
            <a:ext cx="54864" cy="475488"/>
          </a:xfrm>
          <a:prstGeom prst="round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" y="5925312"/>
            <a:ext cx="10600639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CBD5E1"/>
                </a:solidFill>
                <a:latin typeface="Segoe UI"/>
              </a:rPr>
              <a:t>Si alguien espera la animación antes de mutar el estado, este test falla.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77295" y="6382512"/>
            <a:ext cx="548640" cy="27432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/>
            <a:r>
              <a:rPr sz="1000">
                <a:solidFill>
                  <a:srgbClr val="475569"/>
                </a:solidFill>
                <a:latin typeface="Segoe UI"/>
              </a:rPr>
              <a:t>11/21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A78BFA"/>
                </a:solidFill>
                <a:latin typeface="Segoe UI"/>
              </a:rPr>
              <a:t>P2 · EXTENSIBILIDAD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 i="0">
                <a:solidFill>
                  <a:srgbClr val="F8FAFC"/>
                </a:solidFill>
                <a:latin typeface="Segoe UI"/>
              </a:rPr>
              <a:t>Agregar una habilidad es crear una clase, no modificar el sistema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777240" cy="50292"/>
          </a:xfrm>
          <a:prstGeom prst="roundRect">
            <a:avLst>
              <a:gd name="adj" fmla="val 50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66928" y="1828800"/>
            <a:ext cx="1965960" cy="658368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 w="1651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66928" y="1938528"/>
            <a:ext cx="1965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A78BFA"/>
                </a:solidFill>
                <a:latin typeface="Segoe UI"/>
              </a:rPr>
              <a:t>MoveCommand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212848"/>
            <a:ext cx="1965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94A3B8"/>
                </a:solidFill>
                <a:latin typeface="Segoe UI"/>
              </a:rPr>
              <a:t>implementado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549907" y="2505456"/>
            <a:ext cx="0" cy="365759"/>
          </a:xfrm>
          <a:prstGeom prst="line">
            <a:avLst/>
          </a:prstGeom>
          <a:ln w="15875">
            <a:solidFill>
              <a:srgbClr val="A78BF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2788920" y="1828800"/>
            <a:ext cx="1965960" cy="658368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 w="1651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2788920" y="1938528"/>
            <a:ext cx="1965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A78BFA"/>
                </a:solidFill>
                <a:latin typeface="Segoe UI"/>
              </a:rPr>
              <a:t>AttackCommand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2212848"/>
            <a:ext cx="1965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94A3B8"/>
                </a:solidFill>
                <a:latin typeface="Segoe UI"/>
              </a:rPr>
              <a:t>implementado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771900" y="2505456"/>
            <a:ext cx="0" cy="365759"/>
          </a:xfrm>
          <a:prstGeom prst="line">
            <a:avLst/>
          </a:prstGeom>
          <a:ln w="15875">
            <a:solidFill>
              <a:srgbClr val="A78BF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5010912" y="1828800"/>
            <a:ext cx="1965960" cy="658368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 w="1651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5010912" y="1938528"/>
            <a:ext cx="1965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A78BFA"/>
                </a:solidFill>
                <a:latin typeface="Segoe UI"/>
              </a:rPr>
              <a:t>ShieldCommand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10912" y="2212848"/>
            <a:ext cx="1965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94A3B8"/>
                </a:solidFill>
                <a:latin typeface="Segoe UI"/>
              </a:rPr>
              <a:t>implementado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993892" y="2505456"/>
            <a:ext cx="0" cy="365759"/>
          </a:xfrm>
          <a:prstGeom prst="line">
            <a:avLst/>
          </a:prstGeom>
          <a:ln w="15875">
            <a:solidFill>
              <a:srgbClr val="A78BF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7232903" y="1828800"/>
            <a:ext cx="1965960" cy="658368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 w="16510">
            <a:solidFill>
              <a:srgbClr val="4ADE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232903" y="1938528"/>
            <a:ext cx="1965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4ADE80"/>
                </a:solidFill>
                <a:latin typeface="Segoe UI"/>
              </a:rPr>
              <a:t>TractorBeamCommand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32903" y="2212848"/>
            <a:ext cx="1965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94A3B8"/>
                </a:solidFill>
                <a:latin typeface="Segoe UI"/>
              </a:rPr>
              <a:t>en vivo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215883" y="2505456"/>
            <a:ext cx="0" cy="365759"/>
          </a:xfrm>
          <a:prstGeom prst="line">
            <a:avLst/>
          </a:prstGeom>
          <a:ln w="15875">
            <a:solidFill>
              <a:srgbClr val="4ADE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566928" y="2889504"/>
            <a:ext cx="11057839" cy="566928"/>
          </a:xfrm>
          <a:prstGeom prst="roundRect">
            <a:avLst>
              <a:gd name="adj" fmla="val 10000"/>
            </a:avLst>
          </a:prstGeom>
          <a:solidFill>
            <a:srgbClr val="24334A"/>
          </a:solidFill>
          <a:ln w="20320">
            <a:solidFill>
              <a:srgbClr val="4ADE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566928" y="2889504"/>
            <a:ext cx="1105783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4ADE80"/>
                </a:solidFill>
                <a:latin typeface="Segoe UI"/>
              </a:rPr>
              <a:t>ICommand  →  CommandProcessor  (no cambia)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3794760"/>
            <a:ext cx="110578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4ADE80"/>
                </a:solidFill>
                <a:latin typeface="Consolas"/>
              </a:rPr>
              <a:t>✓  Submit_NewCommandVariant_RequiresNoPipelineChange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4343400"/>
            <a:ext cx="11057839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CBD5E1"/>
                </a:solidFill>
                <a:latin typeface="Segoe UI"/>
              </a:rPr>
              <a:t>Diferido: Undo/Redo. El TP1 lo menciona como capacidad que el patrón habilita, no como requisito del prototipo.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5925312"/>
            <a:ext cx="11057839" cy="475488"/>
          </a:xfrm>
          <a:prstGeom prst="roundRect">
            <a:avLst>
              <a:gd name="adj" fmla="val 12000"/>
            </a:avLst>
          </a:prstGeom>
          <a:solidFill>
            <a:srgbClr val="243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ounded Rectangle 26"/>
          <p:cNvSpPr/>
          <p:nvPr/>
        </p:nvSpPr>
        <p:spPr>
          <a:xfrm>
            <a:off x="566928" y="5925312"/>
            <a:ext cx="54864" cy="475488"/>
          </a:xfrm>
          <a:prstGeom prst="round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4672" y="5925312"/>
            <a:ext cx="10600639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CBD5E1"/>
                </a:solidFill>
                <a:latin typeface="Segoe UI"/>
              </a:rPr>
              <a:t>ShieldCommand ya existe y el pipeline no se enteró.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77295" y="6382512"/>
            <a:ext cx="548640" cy="27432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/>
            <a:r>
              <a:rPr sz="1000">
                <a:solidFill>
                  <a:srgbClr val="475569"/>
                </a:solidFill>
                <a:latin typeface="Segoe UI"/>
              </a:rPr>
              <a:t>12/21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FBBF24"/>
                </a:solidFill>
                <a:latin typeface="Segoe UI"/>
              </a:rPr>
              <a:t>P3 · DESAFÍO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2800" b="1" i="0">
                <a:solidFill>
                  <a:srgbClr val="F8FAFC"/>
                </a:solidFill>
                <a:latin typeface="Segoe UI"/>
              </a:rPr>
              <a:t>Sin GameManager.Instance y sin Service Locator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777240" cy="50292"/>
          </a:xfrm>
          <a:prstGeom prst="roundRect">
            <a:avLst>
              <a:gd name="adj" fmla="val 50000"/>
            </a:avLst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783080"/>
            <a:ext cx="3839527" cy="658368"/>
          </a:xfrm>
          <a:prstGeom prst="rect">
            <a:avLst/>
          </a:prstGeom>
          <a:solidFill>
            <a:srgbClr val="24334A"/>
          </a:solidFill>
          <a:ln w="9525">
            <a:solidFill>
              <a:srgbClr val="F871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4944" y="1837943"/>
            <a:ext cx="3583495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050" b="1" i="0">
                <a:solidFill>
                  <a:srgbClr val="94A3B8"/>
                </a:solidFill>
                <a:latin typeface="Segoe UI"/>
              </a:rPr>
              <a:t>Lo que NO quiero</a:t>
            </a:r>
          </a:p>
        </p:txBody>
      </p:sp>
      <p:sp>
        <p:nvSpPr>
          <p:cNvPr id="8" name="Rectangle 7"/>
          <p:cNvSpPr/>
          <p:nvPr/>
        </p:nvSpPr>
        <p:spPr>
          <a:xfrm>
            <a:off x="4406455" y="1783080"/>
            <a:ext cx="7218311" cy="658368"/>
          </a:xfrm>
          <a:prstGeom prst="rect">
            <a:avLst/>
          </a:prstGeom>
          <a:solidFill>
            <a:srgbClr val="24334A"/>
          </a:solidFill>
          <a:ln w="9525">
            <a:solidFill>
              <a:srgbClr val="F871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34471" y="1837943"/>
            <a:ext cx="696227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050" b="1" i="0">
                <a:solidFill>
                  <a:srgbClr val="94A3B8"/>
                </a:solidFill>
                <a:latin typeface="Segoe UI"/>
              </a:rPr>
              <a:t>Por qué es un problema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441448"/>
            <a:ext cx="3839527" cy="658368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4944" y="2496312"/>
            <a:ext cx="3583495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300" b="0" i="0">
                <a:solidFill>
                  <a:srgbClr val="CBD5E1"/>
                </a:solidFill>
                <a:latin typeface="Segoe UI"/>
              </a:rPr>
              <a:t>GameManager.Instance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06455" y="2441448"/>
            <a:ext cx="7218311" cy="658368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34471" y="2496312"/>
            <a:ext cx="696227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300" b="0" i="0">
                <a:solidFill>
                  <a:srgbClr val="CBD5E1"/>
                </a:solidFill>
                <a:latin typeface="Segoe UI"/>
              </a:rPr>
              <a:t>Dependencias ocultas y estado global mutable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3099815"/>
            <a:ext cx="3839527" cy="658368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3154679"/>
            <a:ext cx="3583495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300" b="0" i="0">
                <a:solidFill>
                  <a:srgbClr val="CBD5E1"/>
                </a:solidFill>
                <a:latin typeface="Segoe UI"/>
              </a:rPr>
              <a:t>Service Locator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06455" y="3099815"/>
            <a:ext cx="7218311" cy="658368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34471" y="3154679"/>
            <a:ext cx="696227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300" b="0" i="0">
                <a:solidFill>
                  <a:srgbClr val="CBD5E1"/>
                </a:solidFill>
                <a:latin typeface="Segoe UI"/>
              </a:rPr>
              <a:t>Mismo problema con otro nombre: la clase pide, no recibe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3758184"/>
            <a:ext cx="3839527" cy="658368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4944" y="3813048"/>
            <a:ext cx="3583495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300" b="0" i="0">
                <a:solidFill>
                  <a:srgbClr val="CBD5E1"/>
                </a:solidFill>
                <a:latin typeface="Segoe UI"/>
              </a:rPr>
              <a:t>Stats calculadas dentro del SO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406455" y="3758184"/>
            <a:ext cx="7218311" cy="658368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34471" y="3813048"/>
            <a:ext cx="696227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300" b="0" i="0">
                <a:solidFill>
                  <a:srgbClr val="CBD5E1"/>
                </a:solidFill>
                <a:latin typeface="Segoe UI"/>
              </a:rPr>
              <a:t>El cálculo queda atado al motor y no se puede testear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4480560"/>
            <a:ext cx="1105783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CBD5E1"/>
                </a:solidFill>
                <a:latin typeface="Segoe UI"/>
              </a:rPr>
              <a:t>El síntoma es fácil de ver: si para testear tengo que abrir una escena, la dependencia está mal puesta.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77295" y="6382512"/>
            <a:ext cx="548640" cy="27432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/>
            <a:r>
              <a:rPr sz="1000">
                <a:solidFill>
                  <a:srgbClr val="475569"/>
                </a:solidFill>
                <a:latin typeface="Segoe UI"/>
              </a:rPr>
              <a:t>13/21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FBBF24"/>
                </a:solidFill>
                <a:latin typeface="Segoe UI"/>
              </a:rPr>
              <a:t>P3 · SOLUCIÓN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2800" b="1" i="0">
                <a:solidFill>
                  <a:srgbClr val="F8FAFC"/>
                </a:solidFill>
                <a:latin typeface="Segoe UI"/>
              </a:rPr>
              <a:t>Dependencias por constructor, datos como assets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777240" cy="50292"/>
          </a:xfrm>
          <a:prstGeom prst="roundRect">
            <a:avLst>
              <a:gd name="adj" fmla="val 50000"/>
            </a:avLst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828800"/>
            <a:ext cx="2331720" cy="914400"/>
          </a:xfrm>
          <a:prstGeom prst="roundRect">
            <a:avLst>
              <a:gd name="adj" fmla="val 8000"/>
            </a:avLst>
          </a:prstGeom>
          <a:solidFill>
            <a:srgbClr val="24334A"/>
          </a:solidFill>
          <a:ln w="1905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04672" y="1956816"/>
            <a:ext cx="2057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BBF24"/>
                </a:solidFill>
                <a:latin typeface="Segoe UI"/>
              </a:rPr>
              <a:t>EquipmentLifetimeScope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267712"/>
            <a:ext cx="2057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4A3B8"/>
                </a:solidFill>
                <a:latin typeface="Segoe UI"/>
              </a:rPr>
              <a:t>composición · 1 por escena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881567" y="1828800"/>
            <a:ext cx="2697480" cy="658368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 w="1524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027871" y="1920240"/>
            <a:ext cx="2377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A78BFA"/>
                </a:solidFill>
                <a:latin typeface="Segoe UI"/>
              </a:rPr>
              <a:t>ModuleCatalogAsset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27871" y="2194560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4A3B8"/>
                </a:solidFill>
                <a:latin typeface="Segoe UI"/>
              </a:rPr>
              <a:t>Flyweight</a:t>
            </a:r>
          </a:p>
        </p:txBody>
      </p:sp>
      <p:cxnSp>
        <p:nvCxnSpPr>
          <p:cNvPr id="12" name="Connector 11"/>
          <p:cNvCxnSpPr/>
          <p:nvPr/>
        </p:nvCxnSpPr>
        <p:spPr>
          <a:xfrm flipV="1">
            <a:off x="3035807" y="2157984"/>
            <a:ext cx="5800040" cy="128016"/>
          </a:xfrm>
          <a:prstGeom prst="line">
            <a:avLst/>
          </a:prstGeom>
          <a:ln w="15875">
            <a:solidFill>
              <a:srgbClr val="3341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8881567" y="2615184"/>
            <a:ext cx="2697480" cy="658368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 w="1524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027871" y="2706624"/>
            <a:ext cx="2377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94A3B8"/>
                </a:solidFill>
                <a:latin typeface="Segoe UI"/>
              </a:rPr>
              <a:t>ShipConfig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27871" y="2980944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4A3B8"/>
                </a:solidFill>
                <a:latin typeface="Segoe UI"/>
              </a:rPr>
              <a:t>stats base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035807" y="2286000"/>
            <a:ext cx="5800040" cy="658368"/>
          </a:xfrm>
          <a:prstGeom prst="line">
            <a:avLst/>
          </a:prstGeom>
          <a:ln w="15875">
            <a:solidFill>
              <a:srgbClr val="3341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8881567" y="3401568"/>
            <a:ext cx="2697480" cy="658368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 w="15240">
            <a:solidFill>
              <a:srgbClr val="4ADE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027871" y="3493008"/>
            <a:ext cx="2377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4ADE80"/>
                </a:solidFill>
                <a:latin typeface="Segoe UI"/>
              </a:rPr>
              <a:t>IEquipmentService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27871" y="376732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4A3B8"/>
                </a:solidFill>
                <a:latin typeface="Segoe UI"/>
              </a:rPr>
              <a:t>contrato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035807" y="2286000"/>
            <a:ext cx="5800040" cy="1444752"/>
          </a:xfrm>
          <a:prstGeom prst="line">
            <a:avLst/>
          </a:prstGeom>
          <a:ln w="15875">
            <a:solidFill>
              <a:srgbClr val="3341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4724247" y="4005072"/>
            <a:ext cx="2743200" cy="713232"/>
          </a:xfrm>
          <a:prstGeom prst="roundRect">
            <a:avLst>
              <a:gd name="adj" fmla="val 6000"/>
            </a:avLst>
          </a:prstGeom>
          <a:solidFill>
            <a:srgbClr val="1A2418"/>
          </a:solidFill>
          <a:ln w="15240">
            <a:solidFill>
              <a:srgbClr val="4ADE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4724247" y="4114800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4ADE80"/>
                </a:solidFill>
                <a:latin typeface="Segoe UI"/>
              </a:rPr>
              <a:t>LoadoutDemo  [Inject]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24247" y="4407408"/>
            <a:ext cx="2743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94A3B8"/>
                </a:solidFill>
                <a:latin typeface="Segoe UI"/>
              </a:rPr>
              <a:t>no busca: recibe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5074920"/>
            <a:ext cx="11057839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CBD5E1"/>
                </a:solidFill>
                <a:latin typeface="Segoe UI"/>
              </a:rPr>
              <a:t>El contenedor vive en Presentación. El servicio ni sabe que existe VContainer: recibe una interfaz.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5925312"/>
            <a:ext cx="11057839" cy="475488"/>
          </a:xfrm>
          <a:prstGeom prst="roundRect">
            <a:avLst>
              <a:gd name="adj" fmla="val 12000"/>
            </a:avLst>
          </a:prstGeom>
          <a:solidFill>
            <a:srgbClr val="243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ounded Rectangle 25"/>
          <p:cNvSpPr/>
          <p:nvPr/>
        </p:nvSpPr>
        <p:spPr>
          <a:xfrm>
            <a:off x="566928" y="5925312"/>
            <a:ext cx="54864" cy="475488"/>
          </a:xfrm>
          <a:prstGeom prst="round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925312"/>
            <a:ext cx="10600639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CBD5E1"/>
                </a:solidFill>
                <a:latin typeface="Segoe UI"/>
              </a:rPr>
              <a:t>ScriptableObject es adaptador, no modelo: el dominio recibe ModuleDefinition.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77295" y="6382512"/>
            <a:ext cx="548640" cy="27432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/>
            <a:r>
              <a:rPr sz="1000">
                <a:solidFill>
                  <a:srgbClr val="475569"/>
                </a:solidFill>
                <a:latin typeface="Segoe UI"/>
              </a:rPr>
              <a:t>14/21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FBBF24"/>
                </a:solidFill>
                <a:latin typeface="Segoe UI"/>
              </a:rPr>
              <a:t>P3 · EVIDENCIA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2800" b="1" i="0">
                <a:solidFill>
                  <a:srgbClr val="F8FAFC"/>
                </a:solidFill>
                <a:latin typeface="Segoe UI"/>
              </a:rPr>
              <a:t>Testeable sin Unity y ampliable sin recompilar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777240" cy="50292"/>
          </a:xfrm>
          <a:prstGeom prst="roundRect">
            <a:avLst>
              <a:gd name="adj" fmla="val 50000"/>
            </a:avLst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66928" y="1783080"/>
            <a:ext cx="5440680" cy="196596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04672" y="1965960"/>
            <a:ext cx="4983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FBBF24"/>
                </a:solidFill>
                <a:latin typeface="Segoe UI"/>
              </a:rPr>
              <a:t>DIP: catálogo inyectado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350008"/>
            <a:ext cx="4983480" cy="11887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250" b="0" i="0">
                <a:solidFill>
                  <a:srgbClr val="CBD5E1"/>
                </a:solidFill>
                <a:latin typeface="Segoe UI"/>
              </a:rPr>
              <a:t>·  EquipmentService recibe IModuleCatalog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250" b="0" i="0">
                <a:solidFill>
                  <a:srgbClr val="CBD5E1"/>
                </a:solidFill>
                <a:latin typeface="Segoe UI"/>
              </a:rPr>
              <a:t>·  El test inyecta FakeCatalog y cuenta consultas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250" b="0" i="0">
                <a:solidFill>
                  <a:srgbClr val="CBD5E1"/>
                </a:solidFill>
                <a:latin typeface="Segoe UI"/>
              </a:rPr>
              <a:t>·  Corre en Edit Mode, sin escena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440680" cy="196596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455664" y="1965960"/>
            <a:ext cx="4983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4ADE80"/>
                </a:solidFill>
                <a:latin typeface="Segoe UI"/>
              </a:rPr>
              <a:t>Data-driven: sin código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350008"/>
            <a:ext cx="4983480" cy="11887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250" b="0" i="0">
                <a:solidFill>
                  <a:srgbClr val="CBD5E1"/>
                </a:solidFill>
                <a:latin typeface="Segoe UI"/>
              </a:rPr>
              <a:t>·  laser-mk1 → laser-mk2 reemplaza en el slot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250" b="0" i="0">
                <a:solidFill>
                  <a:srgbClr val="CBD5E1"/>
                </a:solidFill>
                <a:latin typeface="Segoe UI"/>
              </a:rPr>
              <a:t>·  laser-mk3 se agregó como asset, no como clase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250" b="0" i="0">
                <a:solidFill>
                  <a:srgbClr val="CBD5E1"/>
                </a:solidFill>
                <a:latin typeface="Segoe UI"/>
              </a:rPr>
              <a:t>·  Stats: PA 6 · escudos 5 · movimiento 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3977639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4ADE80"/>
                </a:solidFill>
                <a:latin typeface="Segoe UI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" y="3977639"/>
            <a:ext cx="1069207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CBD5E1"/>
                </a:solidFill>
                <a:latin typeface="Consolas"/>
              </a:rPr>
              <a:t>TryEquip_ReplacingModule_DoesNotDoubleCount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4398264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4ADE80"/>
                </a:solidFill>
                <a:latin typeface="Segoe U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" y="4398264"/>
            <a:ext cx="1069207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CBD5E1"/>
                </a:solidFill>
                <a:latin typeface="Consolas"/>
              </a:rPr>
              <a:t>EquipmentService_WithInjectedFakeCatalog_ResolvesModulesById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5925312"/>
            <a:ext cx="11057839" cy="475488"/>
          </a:xfrm>
          <a:prstGeom prst="roundRect">
            <a:avLst>
              <a:gd name="adj" fmla="val 12000"/>
            </a:avLst>
          </a:prstGeom>
          <a:solidFill>
            <a:srgbClr val="243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566928" y="5925312"/>
            <a:ext cx="54864" cy="475488"/>
          </a:xfrm>
          <a:prstGeom prst="round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2" y="5925312"/>
            <a:ext cx="10600639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CBD5E1"/>
                </a:solidFill>
                <a:latin typeface="Segoe UI"/>
              </a:rPr>
              <a:t>Un slot por tipo: el estado inválido “módulo en slot incompatible” no puede existir.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77295" y="6382512"/>
            <a:ext cx="548640" cy="27432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/>
            <a:r>
              <a:rPr sz="1000">
                <a:solidFill>
                  <a:srgbClr val="475569"/>
                </a:solidFill>
                <a:latin typeface="Segoe UI"/>
              </a:rPr>
              <a:t>15/21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F8FAFC"/>
                </a:solidFill>
                <a:latin typeface="Segoe UI"/>
              </a:rPr>
              <a:t>TRAZABILIDAD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 i="0">
                <a:solidFill>
                  <a:srgbClr val="F8FAFC"/>
                </a:solidFill>
                <a:latin typeface="Segoe UI"/>
              </a:rPr>
              <a:t>Cada comportamiento tiene un test y un defecto declarado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777240" cy="50292"/>
          </a:xfrm>
          <a:prstGeom prst="roundRect">
            <a:avLst>
              <a:gd name="adj" fmla="val 50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783080"/>
            <a:ext cx="3851606" cy="786384"/>
          </a:xfrm>
          <a:prstGeom prst="rect">
            <a:avLst/>
          </a:prstGeom>
          <a:solidFill>
            <a:srgbClr val="24334A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4944" y="1837943"/>
            <a:ext cx="3595574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050" b="1" i="0">
                <a:solidFill>
                  <a:srgbClr val="94A3B8"/>
                </a:solidFill>
                <a:latin typeface="Segoe UI"/>
              </a:rPr>
              <a:t>Comportamiento</a:t>
            </a:r>
          </a:p>
        </p:txBody>
      </p:sp>
      <p:sp>
        <p:nvSpPr>
          <p:cNvPr id="8" name="Rectangle 7"/>
          <p:cNvSpPr/>
          <p:nvPr/>
        </p:nvSpPr>
        <p:spPr>
          <a:xfrm>
            <a:off x="4418534" y="1783080"/>
            <a:ext cx="3478870" cy="786384"/>
          </a:xfrm>
          <a:prstGeom prst="rect">
            <a:avLst/>
          </a:prstGeom>
          <a:solidFill>
            <a:srgbClr val="24334A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46550" y="1837943"/>
            <a:ext cx="3222838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050" b="1" i="0">
                <a:solidFill>
                  <a:srgbClr val="94A3B8"/>
                </a:solidFill>
                <a:latin typeface="Segoe UI"/>
              </a:rPr>
              <a:t>Test</a:t>
            </a:r>
          </a:p>
        </p:txBody>
      </p:sp>
      <p:sp>
        <p:nvSpPr>
          <p:cNvPr id="10" name="Rectangle 9"/>
          <p:cNvSpPr/>
          <p:nvPr/>
        </p:nvSpPr>
        <p:spPr>
          <a:xfrm>
            <a:off x="7897405" y="1783080"/>
            <a:ext cx="3727361" cy="786384"/>
          </a:xfrm>
          <a:prstGeom prst="rect">
            <a:avLst/>
          </a:prstGeom>
          <a:solidFill>
            <a:srgbClr val="24334A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25421" y="1837943"/>
            <a:ext cx="3471329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050" b="1" i="0">
                <a:solidFill>
                  <a:srgbClr val="94A3B8"/>
                </a:solidFill>
                <a:latin typeface="Segoe UI"/>
              </a:rPr>
              <a:t>Error que detectaría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569464"/>
            <a:ext cx="3851606" cy="786384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" y="2624328"/>
            <a:ext cx="3595574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200" b="0" i="0">
                <a:solidFill>
                  <a:srgbClr val="CBD5E1"/>
                </a:solidFill>
                <a:latin typeface="Segoe UI"/>
              </a:rPr>
              <a:t>El evento solo se emite si hay mutación real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18534" y="2569464"/>
            <a:ext cx="3478870" cy="786384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46550" y="2624328"/>
            <a:ext cx="3222838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200" b="0" i="0">
                <a:solidFill>
                  <a:srgbClr val="CBD5E1"/>
                </a:solidFill>
                <a:latin typeface="Segoe UI"/>
              </a:rPr>
              <a:t>SetCell_WithSameValue_…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897405" y="2569464"/>
            <a:ext cx="3727361" cy="786384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25421" y="2624328"/>
            <a:ext cx="3471329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200" b="0" i="0">
                <a:solidFill>
                  <a:srgbClr val="CBD5E1"/>
                </a:solidFill>
                <a:latin typeface="Segoe UI"/>
              </a:rPr>
              <a:t>Polling disfrazado de reactividad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3355848"/>
            <a:ext cx="3851606" cy="786384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4944" y="3410712"/>
            <a:ext cx="3595574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200" b="0" i="0">
                <a:solidFill>
                  <a:srgbClr val="CBD5E1"/>
                </a:solidFill>
                <a:latin typeface="Segoe UI"/>
              </a:rPr>
              <a:t>El estado cambia antes de la animación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418534" y="3355848"/>
            <a:ext cx="3478870" cy="786384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46550" y="3410712"/>
            <a:ext cx="3222838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200" b="0" i="0">
                <a:solidFill>
                  <a:srgbClr val="CBD5E1"/>
                </a:solidFill>
                <a:latin typeface="Segoe UI"/>
              </a:rPr>
              <a:t>Submit_AppliesLogicBefore…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897405" y="3355848"/>
            <a:ext cx="3727361" cy="786384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25421" y="3410712"/>
            <a:ext cx="3471329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200" b="0" i="0">
                <a:solidFill>
                  <a:srgbClr val="CBD5E1"/>
                </a:solidFill>
                <a:latin typeface="Segoe UI"/>
              </a:rPr>
              <a:t>Regla acoplada al tiempo del arte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4142232"/>
            <a:ext cx="3851606" cy="786384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" y="4197096"/>
            <a:ext cx="3595574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200" b="0" i="0">
                <a:solidFill>
                  <a:srgbClr val="CBD5E1"/>
                </a:solidFill>
                <a:latin typeface="Segoe UI"/>
              </a:rPr>
              <a:t>Reemplazar un módulo no duplica stats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418534" y="4142232"/>
            <a:ext cx="3478870" cy="786384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46550" y="4197096"/>
            <a:ext cx="3222838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200" b="0" i="0">
                <a:solidFill>
                  <a:srgbClr val="CBD5E1"/>
                </a:solidFill>
                <a:latin typeface="Segoe UI"/>
              </a:rPr>
              <a:t>TryEquip_ReplacingModule_…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897405" y="4142232"/>
            <a:ext cx="3727361" cy="786384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25421" y="4197096"/>
            <a:ext cx="3471329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200" b="0" i="0">
                <a:solidFill>
                  <a:srgbClr val="CBD5E1"/>
                </a:solidFill>
                <a:latin typeface="Segoe UI"/>
              </a:rPr>
              <a:t>Sumar el módulo viejo y el nuevo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4892040"/>
            <a:ext cx="1105783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CBD5E1"/>
                </a:solidFill>
                <a:latin typeface="Segoe UI"/>
              </a:rPr>
              <a:t>80 tests en Edit Mode (P1 5 · P2 7 · P3 9 · bucle 59)  ·  1 en Play Mode  ·  el único Play Mode es P2, porque es el único donde importa que Unity invoque al adaptador.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6928" y="5925312"/>
            <a:ext cx="11057839" cy="475488"/>
          </a:xfrm>
          <a:prstGeom prst="roundRect">
            <a:avLst>
              <a:gd name="adj" fmla="val 12000"/>
            </a:avLst>
          </a:prstGeom>
          <a:solidFill>
            <a:srgbClr val="243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ounded Rectangle 31"/>
          <p:cNvSpPr/>
          <p:nvPr/>
        </p:nvSpPr>
        <p:spPr>
          <a:xfrm>
            <a:off x="566928" y="5925312"/>
            <a:ext cx="54864" cy="475488"/>
          </a:xfrm>
          <a:prstGeom prst="round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04672" y="5925312"/>
            <a:ext cx="10600639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CBD5E1"/>
                </a:solidFill>
                <a:latin typeface="Segoe UI"/>
              </a:rPr>
              <a:t>No hay un test por método: hay un test por regla, y cada uno responde qué error detectaría.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77295" y="6382512"/>
            <a:ext cx="548640" cy="27432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/>
            <a:r>
              <a:rPr sz="1000">
                <a:solidFill>
                  <a:srgbClr val="475569"/>
                </a:solidFill>
                <a:latin typeface="Segoe UI"/>
              </a:rPr>
              <a:t>16/21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F87171"/>
                </a:solidFill>
                <a:latin typeface="Segoe UI"/>
              </a:rPr>
              <a:t>ALCANCE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2800" b="1" i="0">
                <a:solidFill>
                  <a:srgbClr val="F8FAFC"/>
                </a:solidFill>
                <a:latin typeface="Segoe UI"/>
              </a:rPr>
              <a:t>Esto es lo que dejé afuera, y por qué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777240" cy="50292"/>
          </a:xfrm>
          <a:prstGeom prst="roundRect">
            <a:avLst>
              <a:gd name="adj" fmla="val 50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783080"/>
            <a:ext cx="2981889" cy="621792"/>
          </a:xfrm>
          <a:prstGeom prst="rect">
            <a:avLst/>
          </a:prstGeom>
          <a:solidFill>
            <a:srgbClr val="24334A"/>
          </a:solidFill>
          <a:ln w="9525">
            <a:solidFill>
              <a:srgbClr val="F871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4944" y="1837943"/>
            <a:ext cx="2725857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050" b="1" i="0">
                <a:solidFill>
                  <a:srgbClr val="94A3B8"/>
                </a:solidFill>
                <a:latin typeface="Segoe UI"/>
              </a:rPr>
              <a:t>Excluido</a:t>
            </a:r>
          </a:p>
        </p:txBody>
      </p:sp>
      <p:sp>
        <p:nvSpPr>
          <p:cNvPr id="8" name="Rectangle 7"/>
          <p:cNvSpPr/>
          <p:nvPr/>
        </p:nvSpPr>
        <p:spPr>
          <a:xfrm>
            <a:off x="3548817" y="1783080"/>
            <a:ext cx="3975852" cy="621792"/>
          </a:xfrm>
          <a:prstGeom prst="rect">
            <a:avLst/>
          </a:prstGeom>
          <a:solidFill>
            <a:srgbClr val="24334A"/>
          </a:solidFill>
          <a:ln w="9525">
            <a:solidFill>
              <a:srgbClr val="F871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76833" y="1837943"/>
            <a:ext cx="371982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050" b="1" i="0">
                <a:solidFill>
                  <a:srgbClr val="94A3B8"/>
                </a:solidFill>
                <a:latin typeface="Segoe UI"/>
              </a:rPr>
              <a:t>Justificación</a:t>
            </a:r>
          </a:p>
        </p:txBody>
      </p:sp>
      <p:sp>
        <p:nvSpPr>
          <p:cNvPr id="10" name="Rectangle 9"/>
          <p:cNvSpPr/>
          <p:nvPr/>
        </p:nvSpPr>
        <p:spPr>
          <a:xfrm>
            <a:off x="7524669" y="1783080"/>
            <a:ext cx="4100097" cy="621792"/>
          </a:xfrm>
          <a:prstGeom prst="rect">
            <a:avLst/>
          </a:prstGeom>
          <a:solidFill>
            <a:srgbClr val="24334A"/>
          </a:solidFill>
          <a:ln w="9525">
            <a:solidFill>
              <a:srgbClr val="F871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52685" y="1837943"/>
            <a:ext cx="3844065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050" b="1" i="0">
                <a:solidFill>
                  <a:srgbClr val="94A3B8"/>
                </a:solidFill>
                <a:latin typeface="Segoe UI"/>
              </a:rPr>
              <a:t>Ruta de extensión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404872"/>
            <a:ext cx="2981889" cy="621792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" y="2459736"/>
            <a:ext cx="2725857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150" b="0" i="0">
                <a:solidFill>
                  <a:srgbClr val="CBD5E1"/>
                </a:solidFill>
                <a:latin typeface="Segoe UI"/>
              </a:rPr>
              <a:t>Undo / Redo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48817" y="2404872"/>
            <a:ext cx="3975852" cy="621792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76833" y="2459736"/>
            <a:ext cx="371982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150" b="0" i="0">
                <a:solidFill>
                  <a:srgbClr val="CBD5E1"/>
                </a:solidFill>
                <a:latin typeface="Segoe UI"/>
              </a:rPr>
              <a:t>Capacidad habilitada, no requisito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524669" y="2404872"/>
            <a:ext cx="4100097" cy="621792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52685" y="2459736"/>
            <a:ext cx="3844065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150" b="0" i="0">
                <a:solidFill>
                  <a:srgbClr val="CBD5E1"/>
                </a:solidFill>
                <a:latin typeface="Segoe UI"/>
              </a:rPr>
              <a:t>Historial de estados en el pipeline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3026664"/>
            <a:ext cx="2981889" cy="621792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4944" y="3081528"/>
            <a:ext cx="2725857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150" b="0" i="0">
                <a:solidFill>
                  <a:srgbClr val="CBD5E1"/>
                </a:solidFill>
                <a:latin typeface="Segoe UI"/>
              </a:rPr>
              <a:t>IA enemiga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548817" y="3026664"/>
            <a:ext cx="3975852" cy="621792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76833" y="3081528"/>
            <a:ext cx="371982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150" b="0" i="0">
                <a:solidFill>
                  <a:srgbClr val="CBD5E1"/>
                </a:solidFill>
                <a:latin typeface="Segoe UI"/>
              </a:rPr>
              <a:t>El desafío es el flujo, no la búsqueda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524669" y="3026664"/>
            <a:ext cx="4100097" cy="621792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52685" y="3081528"/>
            <a:ext cx="3844065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150" b="0" i="0">
                <a:solidFill>
                  <a:srgbClr val="CBD5E1"/>
                </a:solidFill>
                <a:latin typeface="Segoe UI"/>
              </a:rPr>
              <a:t>El pipeline acepta cualquier ICommand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3648456"/>
            <a:ext cx="2981889" cy="621792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" y="3703320"/>
            <a:ext cx="2725857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150" b="0" i="0">
                <a:solidFill>
                  <a:srgbClr val="CBD5E1"/>
                </a:solidFill>
                <a:latin typeface="Segoe UI"/>
              </a:rPr>
              <a:t>Animación con clips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548817" y="3648456"/>
            <a:ext cx="3975852" cy="621792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76833" y="3703320"/>
            <a:ext cx="371982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150" b="0" i="0">
                <a:solidFill>
                  <a:srgbClr val="CBD5E1"/>
                </a:solidFill>
                <a:latin typeface="Segoe UI"/>
              </a:rPr>
              <a:t>Los modelos se mueven por transform, sin Animator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524669" y="3648456"/>
            <a:ext cx="4100097" cy="621792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652685" y="3703320"/>
            <a:ext cx="3844065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150" b="0" i="0">
                <a:solidFill>
                  <a:srgbClr val="CBD5E1"/>
                </a:solidFill>
                <a:latin typeface="Segoe UI"/>
              </a:rPr>
              <a:t>Animator sobre el modelo actual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4270248"/>
            <a:ext cx="2981889" cy="621792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4944" y="4325112"/>
            <a:ext cx="2725857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150" b="0" i="0">
                <a:solidFill>
                  <a:srgbClr val="CBD5E1"/>
                </a:solidFill>
                <a:latin typeface="Segoe UI"/>
              </a:rPr>
              <a:t>Modificadores multiplicativos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548817" y="4270248"/>
            <a:ext cx="3975852" cy="621792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76833" y="4325112"/>
            <a:ext cx="371982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150" b="0" i="0">
                <a:solidFill>
                  <a:srgbClr val="CBD5E1"/>
                </a:solidFill>
                <a:latin typeface="Segoe UI"/>
              </a:rPr>
              <a:t>Ningún módulo del alcance los usa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524669" y="4270248"/>
            <a:ext cx="4100097" cy="621792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652685" y="4325112"/>
            <a:ext cx="3844065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150" b="0" i="0">
                <a:solidFill>
                  <a:srgbClr val="CBD5E1"/>
                </a:solidFill>
                <a:latin typeface="Segoe UI"/>
              </a:rPr>
              <a:t>StatModifier con operación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28" y="4892040"/>
            <a:ext cx="2981889" cy="621792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94944" y="4946904"/>
            <a:ext cx="2725857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150" b="0" i="0">
                <a:solidFill>
                  <a:srgbClr val="CBD5E1"/>
                </a:solidFill>
                <a:latin typeface="Segoe UI"/>
              </a:rPr>
              <a:t>Mapas 3D / niebla de guerra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548817" y="4892040"/>
            <a:ext cx="3975852" cy="621792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676833" y="4946904"/>
            <a:ext cx="371982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150" b="0" i="0">
                <a:solidFill>
                  <a:srgbClr val="CBD5E1"/>
                </a:solidFill>
                <a:latin typeface="Segoe UI"/>
              </a:rPr>
              <a:t>Otro sistema, no exposición de estado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524669" y="4892040"/>
            <a:ext cx="4100097" cy="621792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652685" y="4946904"/>
            <a:ext cx="3844065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150" b="0" i="0">
                <a:solidFill>
                  <a:srgbClr val="CBD5E1"/>
                </a:solidFill>
                <a:latin typeface="Segoe UI"/>
              </a:rPr>
              <a:t>Capa sobre IGridQueryService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66928" y="5925312"/>
            <a:ext cx="11057839" cy="475488"/>
          </a:xfrm>
          <a:prstGeom prst="roundRect">
            <a:avLst>
              <a:gd name="adj" fmla="val 12000"/>
            </a:avLst>
          </a:prstGeom>
          <a:solidFill>
            <a:srgbClr val="243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ounded Rectangle 42"/>
          <p:cNvSpPr/>
          <p:nvPr/>
        </p:nvSpPr>
        <p:spPr>
          <a:xfrm>
            <a:off x="566928" y="5925312"/>
            <a:ext cx="54864" cy="475488"/>
          </a:xfrm>
          <a:prstGeom prst="round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04672" y="5925312"/>
            <a:ext cx="10600639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CBD5E1"/>
                </a:solidFill>
                <a:latin typeface="Segoe UI"/>
              </a:rPr>
              <a:t>No son las cosas que no llegué a hacer: son las que decidí no hacer.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77295" y="6382512"/>
            <a:ext cx="548640" cy="27432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/>
            <a:r>
              <a:rPr sz="1000">
                <a:solidFill>
                  <a:srgbClr val="475569"/>
                </a:solidFill>
                <a:latin typeface="Segoe UI"/>
              </a:rPr>
              <a:t>17/21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A78BFA"/>
                </a:solidFill>
                <a:latin typeface="Segoe UI"/>
              </a:rPr>
              <a:t>AJUSTES Y HALLAZGOS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2800" b="1" i="0">
                <a:solidFill>
                  <a:srgbClr val="F8FAFC"/>
                </a:solidFill>
                <a:latin typeface="Segoe UI"/>
              </a:rPr>
              <a:t>Qué cambié, y qué descubrí al implementar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777240" cy="50292"/>
          </a:xfrm>
          <a:prstGeom prst="roundRect">
            <a:avLst>
              <a:gd name="adj" fmla="val 50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691640"/>
            <a:ext cx="3642582" cy="512064"/>
          </a:xfrm>
          <a:prstGeom prst="rect">
            <a:avLst/>
          </a:prstGeom>
          <a:solidFill>
            <a:srgbClr val="24334A"/>
          </a:solidFill>
          <a:ln w="9525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4944" y="1746504"/>
            <a:ext cx="338655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050" b="1" i="0">
                <a:solidFill>
                  <a:srgbClr val="94A3B8"/>
                </a:solidFill>
                <a:latin typeface="Segoe UI"/>
              </a:rPr>
              <a:t>TP1</a:t>
            </a:r>
          </a:p>
        </p:txBody>
      </p:sp>
      <p:sp>
        <p:nvSpPr>
          <p:cNvPr id="8" name="Rectangle 7"/>
          <p:cNvSpPr/>
          <p:nvPr/>
        </p:nvSpPr>
        <p:spPr>
          <a:xfrm>
            <a:off x="4209510" y="1691640"/>
            <a:ext cx="4032859" cy="512064"/>
          </a:xfrm>
          <a:prstGeom prst="rect">
            <a:avLst/>
          </a:prstGeom>
          <a:solidFill>
            <a:srgbClr val="24334A"/>
          </a:solidFill>
          <a:ln w="9525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37526" y="1746504"/>
            <a:ext cx="377682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050" b="1" i="0">
                <a:solidFill>
                  <a:srgbClr val="94A3B8"/>
                </a:solidFill>
                <a:latin typeface="Segoe UI"/>
              </a:rPr>
              <a:t>TP2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42369" y="1691640"/>
            <a:ext cx="3382397" cy="512064"/>
          </a:xfrm>
          <a:prstGeom prst="rect">
            <a:avLst/>
          </a:prstGeom>
          <a:solidFill>
            <a:srgbClr val="24334A"/>
          </a:solidFill>
          <a:ln w="9525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70385" y="1746504"/>
            <a:ext cx="3126365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050" b="1" i="0">
                <a:solidFill>
                  <a:srgbClr val="94A3B8"/>
                </a:solidFill>
                <a:latin typeface="Segoe UI"/>
              </a:rPr>
              <a:t>Motivo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203704"/>
            <a:ext cx="3642582" cy="512064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" y="2258568"/>
            <a:ext cx="338655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150" b="0" i="0">
                <a:solidFill>
                  <a:srgbClr val="CBD5E1"/>
                </a:solidFill>
                <a:latin typeface="Segoe UI"/>
              </a:rPr>
              <a:t>ExecuteAsync devuelve UniTask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09510" y="2203704"/>
            <a:ext cx="4032859" cy="512064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37526" y="2258568"/>
            <a:ext cx="377682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150" b="0" i="0">
                <a:solidFill>
                  <a:srgbClr val="CBD5E1"/>
                </a:solidFill>
                <a:latin typeface="Segoe UI"/>
              </a:rPr>
              <a:t>ICommand sync + Task en el puerto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42369" y="2203704"/>
            <a:ext cx="3382397" cy="512064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70385" y="2258568"/>
            <a:ext cx="3126365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150" b="0" i="0">
                <a:solidFill>
                  <a:srgbClr val="CBD5E1"/>
                </a:solidFill>
                <a:latin typeface="Segoe UI"/>
              </a:rPr>
              <a:t>El PDF admite UniTask / Task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2715768"/>
            <a:ext cx="3642582" cy="512064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4944" y="2770632"/>
            <a:ext cx="338655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150" b="0" i="0">
                <a:solidFill>
                  <a:srgbClr val="CBD5E1"/>
                </a:solidFill>
                <a:latin typeface="Segoe UI"/>
              </a:rPr>
              <a:t>ShipModuleSO entra al cálculo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09510" y="2715768"/>
            <a:ext cx="4032859" cy="512064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37526" y="2770632"/>
            <a:ext cx="377682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150" b="0" i="0">
                <a:solidFill>
                  <a:srgbClr val="CBD5E1"/>
                </a:solidFill>
                <a:latin typeface="Segoe UI"/>
              </a:rPr>
              <a:t>El dominio recibe ModuleDefinition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42369" y="2715768"/>
            <a:ext cx="3382397" cy="512064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70385" y="2770632"/>
            <a:ext cx="3126365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150" b="0" i="0">
                <a:solidFill>
                  <a:srgbClr val="CBD5E1"/>
                </a:solidFill>
                <a:latin typeface="Segoe UI"/>
              </a:rPr>
              <a:t>Dominio libre de UnityEngine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3227832"/>
            <a:ext cx="3642582" cy="512064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" y="3282696"/>
            <a:ext cx="338655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150" b="0" i="0">
                <a:solidFill>
                  <a:srgbClr val="CBD5E1"/>
                </a:solidFill>
                <a:latin typeface="Segoe UI"/>
              </a:rPr>
              <a:t>FSM con estados por acción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09510" y="3227832"/>
            <a:ext cx="4032859" cy="512064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37526" y="3282696"/>
            <a:ext cx="377682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150" b="0" i="0">
                <a:solidFill>
                  <a:srgbClr val="CBD5E1"/>
                </a:solidFill>
                <a:latin typeface="Segoe UI"/>
              </a:rPr>
              <a:t>Tres fases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42369" y="3227832"/>
            <a:ext cx="3382397" cy="512064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70385" y="3282696"/>
            <a:ext cx="3126365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150" b="0" i="0">
                <a:solidFill>
                  <a:srgbClr val="CBD5E1"/>
                </a:solidFill>
                <a:latin typeface="Segoe UI"/>
              </a:rPr>
              <a:t>Evitar explosión de combinaciones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3931920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4ADE80"/>
                </a:solidFill>
                <a:latin typeface="Segoe UI"/>
              </a:rPr>
              <a:t>QUÉ DESCUBRÍ AL IMPLEMENTAR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4187952"/>
            <a:ext cx="25603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87171"/>
                </a:solidFill>
                <a:latin typeface="Segoe UI"/>
              </a:rPr>
              <a:t>×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1247" y="4187952"/>
            <a:ext cx="1069207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F8FAFC"/>
                </a:solidFill>
                <a:latin typeface="Segoe UI"/>
              </a:rPr>
              <a:t>Un FBX mal centrado parecía un bug de arquitectura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1247" y="4379976"/>
            <a:ext cx="1069207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94A3B8"/>
                </a:solidFill>
                <a:latin typeface="Segoe UI"/>
              </a:rPr>
              <a:t>la nave se dibujaba al lado de su anillo; era el pivote del export, no el código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" y="4599432"/>
            <a:ext cx="25603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87171"/>
                </a:solidFill>
                <a:latin typeface="Segoe UI"/>
              </a:rPr>
              <a:t>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1247" y="4599432"/>
            <a:ext cx="1069207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F8FAFC"/>
                </a:solidFill>
                <a:latin typeface="Segoe UI"/>
              </a:rPr>
              <a:t>transform.Find por ruta cortó el panel con un NullReference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7" y="4791456"/>
            <a:ext cx="1069207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94A3B8"/>
                </a:solidFill>
                <a:latin typeface="Segoe UI"/>
              </a:rPr>
              <a:t>la vista no debe buscar referencias: la fábrica devuelve tipos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6928" y="5010912"/>
            <a:ext cx="25603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87171"/>
                </a:solidFill>
                <a:latin typeface="Segoe UI"/>
              </a:rPr>
              <a:t>×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1247" y="5010912"/>
            <a:ext cx="1069207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F8FAFC"/>
                </a:solidFill>
                <a:latin typeface="Segoe UI"/>
              </a:rPr>
              <a:t>[Inject] llegaba después de Start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1247" y="5202936"/>
            <a:ext cx="1069207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94A3B8"/>
                </a:solidFill>
                <a:latin typeface="Segoe UI"/>
              </a:rPr>
              <a:t>la nave 3D nunca se construía; se resuelve con un evento Ready, no con un orden implícito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5422392"/>
            <a:ext cx="25603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87171"/>
                </a:solidFill>
                <a:latin typeface="Segoe UI"/>
              </a:rPr>
              <a:t>×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41247" y="5422392"/>
            <a:ext cx="1069207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F8FAFC"/>
                </a:solidFill>
                <a:latin typeface="Segoe UI"/>
              </a:rPr>
              <a:t>El EventSystem del template no respondía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1247" y="5614416"/>
            <a:ext cx="1069207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94A3B8"/>
                </a:solidFill>
                <a:latin typeface="Segoe UI"/>
              </a:rPr>
              <a:t>con el Input System nuevo, StandaloneInputModule es inerte: hace falta InputSystemUIInputModule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66928" y="5925312"/>
            <a:ext cx="11057839" cy="475488"/>
          </a:xfrm>
          <a:prstGeom prst="roundRect">
            <a:avLst>
              <a:gd name="adj" fmla="val 12000"/>
            </a:avLst>
          </a:prstGeom>
          <a:solidFill>
            <a:srgbClr val="243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ounded Rectangle 43"/>
          <p:cNvSpPr/>
          <p:nvPr/>
        </p:nvSpPr>
        <p:spPr>
          <a:xfrm>
            <a:off x="566928" y="5925312"/>
            <a:ext cx="54864" cy="475488"/>
          </a:xfrm>
          <a:prstGeom prst="round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04672" y="5925312"/>
            <a:ext cx="10600639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CBD5E1"/>
                </a:solidFill>
                <a:latin typeface="Segoe UI"/>
              </a:rPr>
              <a:t>Los cuatro cambios del TP1 están en docs/01 §5; estos cuatro hallazgos, en el código.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77295" y="6382512"/>
            <a:ext cx="548640" cy="27432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/>
            <a:r>
              <a:rPr sz="1000">
                <a:solidFill>
                  <a:srgbClr val="475569"/>
                </a:solidFill>
                <a:latin typeface="Segoe UI"/>
              </a:rPr>
              <a:t>18/21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463040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4ADE80"/>
                </a:solidFill>
                <a:latin typeface="Segoe UI"/>
              </a:rPr>
              <a:t>CIERRE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874519"/>
            <a:ext cx="110578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F8FAFC"/>
                </a:solidFill>
                <a:latin typeface="Segoe UI"/>
              </a:rPr>
              <a:t>Tres problemas, tres soluciones,
tres suites que las verifican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291840"/>
            <a:ext cx="1087495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CBD5E1"/>
                </a:solidFill>
                <a:latin typeface="Segoe UI"/>
              </a:rPr>
              <a:t>Las propiedades se demuestran: ISP por reflexión, OCP con un comando nuevo, DIP con un fake.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3858768"/>
            <a:ext cx="1087495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CBD5E1"/>
                </a:solidFill>
                <a:latin typeface="Segoe UI"/>
              </a:rPr>
              <a:t>Lo que no está, está afuera por decisión y con ruta de extensión.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4709160"/>
            <a:ext cx="3493008" cy="658368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 w="15240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66928" y="4709160"/>
            <a:ext cx="3493008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2DD4BF"/>
                </a:solidFill>
                <a:latin typeface="Consolas"/>
              </a:rPr>
              <a:t>P1_GridState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79392" y="4709160"/>
            <a:ext cx="3493008" cy="658368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 w="1524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4279392" y="4709160"/>
            <a:ext cx="3493008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A78BFA"/>
                </a:solidFill>
                <a:latin typeface="Consolas"/>
              </a:rPr>
              <a:t>P2_CommandPipeline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91855" y="4709160"/>
            <a:ext cx="3493008" cy="658368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 w="1524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991855" y="4709160"/>
            <a:ext cx="3493008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BBF24"/>
                </a:solidFill>
                <a:latin typeface="Consolas"/>
              </a:rPr>
              <a:t>P3_Loadout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5715000"/>
            <a:ext cx="110578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94A3B8"/>
                </a:solidFill>
                <a:latin typeface="Segoe UI"/>
              </a:rPr>
              <a:t>81 tests verdes · tag tp2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F87171"/>
                </a:solidFill>
                <a:latin typeface="Segoe UI"/>
              </a:rPr>
              <a:t>RESPALDO · SI PREGUNTAN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57839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2800" b="1" i="0">
                <a:solidFill>
                  <a:srgbClr val="F8FAFC"/>
                </a:solidFill>
                <a:latin typeface="Segoe UI"/>
              </a:rPr>
              <a:t>Mutation demo: rompo una línea y el test se pone rojo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481328"/>
            <a:ext cx="777240" cy="50292"/>
          </a:xfrm>
          <a:prstGeom prst="roundRect">
            <a:avLst>
              <a:gd name="adj" fmla="val 50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783080"/>
            <a:ext cx="1638198" cy="822960"/>
          </a:xfrm>
          <a:prstGeom prst="rect">
            <a:avLst/>
          </a:prstGeom>
          <a:solidFill>
            <a:srgbClr val="24334A"/>
          </a:solidFill>
          <a:ln w="9525">
            <a:solidFill>
              <a:srgbClr val="F871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94944" y="1837943"/>
            <a:ext cx="1382166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050" b="1" i="0">
                <a:solidFill>
                  <a:srgbClr val="94A3B8"/>
                </a:solidFill>
                <a:latin typeface="Segoe UI"/>
              </a:rPr>
              <a:t>Prototipo</a:t>
            </a:r>
          </a:p>
        </p:txBody>
      </p:sp>
      <p:sp>
        <p:nvSpPr>
          <p:cNvPr id="7" name="Rectangle 6"/>
          <p:cNvSpPr/>
          <p:nvPr/>
        </p:nvSpPr>
        <p:spPr>
          <a:xfrm>
            <a:off x="2205126" y="1783080"/>
            <a:ext cx="4505045" cy="822960"/>
          </a:xfrm>
          <a:prstGeom prst="rect">
            <a:avLst/>
          </a:prstGeom>
          <a:solidFill>
            <a:srgbClr val="24334A"/>
          </a:solidFill>
          <a:ln w="9525">
            <a:solidFill>
              <a:srgbClr val="F871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333142" y="1837943"/>
            <a:ext cx="4249013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050" b="1" i="0">
                <a:solidFill>
                  <a:srgbClr val="94A3B8"/>
                </a:solidFill>
                <a:latin typeface="Segoe UI"/>
              </a:rPr>
              <a:t>Línea que rompo</a:t>
            </a:r>
          </a:p>
        </p:txBody>
      </p:sp>
      <p:sp>
        <p:nvSpPr>
          <p:cNvPr id="9" name="Rectangle 8"/>
          <p:cNvSpPr/>
          <p:nvPr/>
        </p:nvSpPr>
        <p:spPr>
          <a:xfrm>
            <a:off x="6710172" y="1783080"/>
            <a:ext cx="4914595" cy="822960"/>
          </a:xfrm>
          <a:prstGeom prst="rect">
            <a:avLst/>
          </a:prstGeom>
          <a:solidFill>
            <a:srgbClr val="24334A"/>
          </a:solidFill>
          <a:ln w="9525">
            <a:solidFill>
              <a:srgbClr val="F871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38187" y="1837943"/>
            <a:ext cx="4658563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050" b="1" i="0">
                <a:solidFill>
                  <a:srgbClr val="94A3B8"/>
                </a:solidFill>
                <a:latin typeface="Segoe UI"/>
              </a:rPr>
              <a:t>Test que falla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606040"/>
            <a:ext cx="1638198" cy="82296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44" y="2660904"/>
            <a:ext cx="1382166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150" b="0" i="0">
                <a:solidFill>
                  <a:srgbClr val="CBD5E1"/>
                </a:solidFill>
                <a:latin typeface="Segoe UI"/>
              </a:rPr>
              <a:t>P1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05126" y="2606040"/>
            <a:ext cx="4505045" cy="82296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33142" y="2660904"/>
            <a:ext cx="4249013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150" b="0" i="0">
                <a:solidFill>
                  <a:srgbClr val="CBD5E1"/>
                </a:solidFill>
                <a:latin typeface="Segoe UI"/>
              </a:rPr>
              <a:t>Emitir el evento aunque el valor no cambie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710172" y="2606040"/>
            <a:ext cx="4914595" cy="82296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38187" y="2660904"/>
            <a:ext cx="4658563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150" b="0" i="0">
                <a:solidFill>
                  <a:srgbClr val="CBD5E1"/>
                </a:solidFill>
                <a:latin typeface="Segoe UI"/>
              </a:rPr>
              <a:t>SetCell_WithSameValue_DoesNotRaiseChange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3429000"/>
            <a:ext cx="1638198" cy="82296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4944" y="3483864"/>
            <a:ext cx="1382166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150" b="0" i="0">
                <a:solidFill>
                  <a:srgbClr val="CBD5E1"/>
                </a:solidFill>
                <a:latin typeface="Segoe UI"/>
              </a:rPr>
              <a:t>P2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205126" y="3429000"/>
            <a:ext cx="4505045" cy="82296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333142" y="3483864"/>
            <a:ext cx="4249013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150" b="0" i="0">
                <a:solidFill>
                  <a:srgbClr val="CBD5E1"/>
                </a:solidFill>
                <a:latin typeface="Segoe UI"/>
              </a:rPr>
              <a:t>Esperar la animación antes de mutar el estado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710172" y="3429000"/>
            <a:ext cx="4914595" cy="82296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38187" y="3483864"/>
            <a:ext cx="4658563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150" b="0" i="0">
                <a:solidFill>
                  <a:srgbClr val="CBD5E1"/>
                </a:solidFill>
                <a:latin typeface="Segoe UI"/>
              </a:rPr>
              <a:t>Submit_AppliesLogicBeforeTheAnimation…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4251960"/>
            <a:ext cx="1638198" cy="82296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4944" y="4306824"/>
            <a:ext cx="1382166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150" b="0" i="0">
                <a:solidFill>
                  <a:srgbClr val="CBD5E1"/>
                </a:solidFill>
                <a:latin typeface="Segoe UI"/>
              </a:rPr>
              <a:t>P3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205126" y="4251960"/>
            <a:ext cx="4505045" cy="82296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333142" y="4306824"/>
            <a:ext cx="4249013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150" b="0" i="0">
                <a:solidFill>
                  <a:srgbClr val="CBD5E1"/>
                </a:solidFill>
                <a:latin typeface="Segoe UI"/>
              </a:rPr>
              <a:t>Sumar el módulo anterior y el nuevo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710172" y="4251960"/>
            <a:ext cx="4914595" cy="82296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38187" y="4306824"/>
            <a:ext cx="4658563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150" b="0" i="0">
                <a:solidFill>
                  <a:srgbClr val="CBD5E1"/>
                </a:solidFill>
                <a:latin typeface="Segoe UI"/>
              </a:rPr>
              <a:t>TryEquip_ReplacingModule_DoesNotDoubleCount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6928" y="4892040"/>
            <a:ext cx="11057839" cy="694944"/>
          </a:xfrm>
          <a:prstGeom prst="roundRect">
            <a:avLst>
              <a:gd name="adj" fmla="val 4000"/>
            </a:avLst>
          </a:prstGeom>
          <a:solidFill>
            <a:srgbClr val="0B1220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86384" y="5093208"/>
            <a:ext cx="10618927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200" b="0" i="0">
                <a:solidFill>
                  <a:srgbClr val="94A3B8"/>
                </a:solidFill>
                <a:latin typeface="Consolas"/>
              </a:rPr>
              <a:t># git stash  →  editar una línea  →  correr el test  →  mostrar rojo  →  git checkout 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2DD4BF"/>
                </a:solidFill>
                <a:latin typeface="Segoe UI"/>
              </a:rPr>
              <a:t>RESPALDO · SI PREGUNTAN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57839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2800" b="1" i="0">
                <a:solidFill>
                  <a:srgbClr val="F8FAFC"/>
                </a:solidFill>
                <a:latin typeface="Segoe UI"/>
              </a:rPr>
              <a:t>Contratos y decisiones de código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481328"/>
            <a:ext cx="777240" cy="50292"/>
          </a:xfrm>
          <a:prstGeom prst="roundRect">
            <a:avLst>
              <a:gd name="adj" fmla="val 5000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783080"/>
            <a:ext cx="3252305" cy="749808"/>
          </a:xfrm>
          <a:prstGeom prst="rect">
            <a:avLst/>
          </a:prstGeom>
          <a:solidFill>
            <a:srgbClr val="24334A"/>
          </a:solidFill>
          <a:ln w="9525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94944" y="1837943"/>
            <a:ext cx="2996273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050" b="1" i="0">
                <a:solidFill>
                  <a:srgbClr val="94A3B8"/>
                </a:solidFill>
                <a:latin typeface="Segoe UI"/>
              </a:rPr>
              <a:t>Pregunta</a:t>
            </a:r>
          </a:p>
        </p:txBody>
      </p:sp>
      <p:sp>
        <p:nvSpPr>
          <p:cNvPr id="7" name="Rectangle 6"/>
          <p:cNvSpPr/>
          <p:nvPr/>
        </p:nvSpPr>
        <p:spPr>
          <a:xfrm>
            <a:off x="3819233" y="1783080"/>
            <a:ext cx="7805533" cy="749808"/>
          </a:xfrm>
          <a:prstGeom prst="rect">
            <a:avLst/>
          </a:prstGeom>
          <a:solidFill>
            <a:srgbClr val="24334A"/>
          </a:solidFill>
          <a:ln w="9525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947249" y="1837943"/>
            <a:ext cx="7549501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050" b="1" i="0">
                <a:solidFill>
                  <a:srgbClr val="94A3B8"/>
                </a:solidFill>
                <a:latin typeface="Segoe UI"/>
              </a:rPr>
              <a:t>Respuesta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532888"/>
            <a:ext cx="3252305" cy="749808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4944" y="2587752"/>
            <a:ext cx="2996273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150" b="0" i="0">
                <a:solidFill>
                  <a:srgbClr val="CBD5E1"/>
                </a:solidFill>
                <a:latin typeface="Segoe UI"/>
              </a:rPr>
              <a:t>¿Cuándo usás excepciones?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19233" y="2532888"/>
            <a:ext cx="7805533" cy="749808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947249" y="2587752"/>
            <a:ext cx="7549501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150" b="0" i="0">
                <a:solidFill>
                  <a:srgbClr val="CBD5E1"/>
                </a:solidFill>
                <a:latin typeface="Segoe UI"/>
              </a:rPr>
              <a:t>Solo precondiciones rotas (catálogo null). Un estado inválido es un resultado con motivo.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3282696"/>
            <a:ext cx="3252305" cy="749808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944" y="3337560"/>
            <a:ext cx="2996273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150" b="0" i="0">
                <a:solidFill>
                  <a:srgbClr val="CBD5E1"/>
                </a:solidFill>
                <a:latin typeface="Segoe UI"/>
              </a:rPr>
              <a:t>¿Por qué no null para ausencia?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19233" y="3282696"/>
            <a:ext cx="7805533" cy="749808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947249" y="3337560"/>
            <a:ext cx="7549501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150" b="0" i="0">
                <a:solidFill>
                  <a:srgbClr val="CBD5E1"/>
                </a:solidFill>
                <a:latin typeface="Segoe UI"/>
              </a:rPr>
              <a:t>TryGetModule(out …) obliga a manejarla; null explota lejos del origen.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4032504"/>
            <a:ext cx="3252305" cy="749808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4944" y="4087368"/>
            <a:ext cx="2996273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150" b="0" i="0">
                <a:solidFill>
                  <a:srgbClr val="CBD5E1"/>
                </a:solidFill>
                <a:latin typeface="Segoe UI"/>
              </a:rPr>
              <a:t>¿Quién puede mutar?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19233" y="4032504"/>
            <a:ext cx="7805533" cy="749808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47249" y="4087368"/>
            <a:ext cx="7549501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150" b="0" i="0">
                <a:solidFill>
                  <a:srgbClr val="CBD5E1"/>
                </a:solidFill>
                <a:latin typeface="Segoe UI"/>
              </a:rPr>
              <a:t>GridModel el mapa, CommandProcessor la nave, EquipmentService el loadout. Nadie más.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4782312"/>
            <a:ext cx="3252305" cy="749808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4944" y="4837175"/>
            <a:ext cx="2996273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150" b="0" i="0">
                <a:solidFill>
                  <a:srgbClr val="CBD5E1"/>
                </a:solidFill>
                <a:latin typeface="Segoe UI"/>
              </a:rPr>
              <a:t>¿Por qué estructuras inmutables?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819233" y="4782312"/>
            <a:ext cx="7805533" cy="749808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947249" y="4837175"/>
            <a:ext cx="7549501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150" b="0" i="0">
                <a:solidFill>
                  <a:srgbClr val="CBD5E1"/>
                </a:solidFill>
                <a:latin typeface="Segoe UI"/>
              </a:rPr>
              <a:t>Permiten comparar antes/después y razonar sobre undo sin deriva.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5925312"/>
            <a:ext cx="11057839" cy="475488"/>
          </a:xfrm>
          <a:prstGeom prst="roundRect">
            <a:avLst>
              <a:gd name="adj" fmla="val 12000"/>
            </a:avLst>
          </a:prstGeom>
          <a:solidFill>
            <a:srgbClr val="243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ounded Rectangle 25"/>
          <p:cNvSpPr/>
          <p:nvPr/>
        </p:nvSpPr>
        <p:spPr>
          <a:xfrm>
            <a:off x="566928" y="5925312"/>
            <a:ext cx="54864" cy="475488"/>
          </a:xfrm>
          <a:prstGeom prst="round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925312"/>
            <a:ext cx="10600639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CBD5E1"/>
                </a:solidFill>
                <a:latin typeface="Segoe UI"/>
              </a:rPr>
              <a:t>La consigna evalúa decisiones, no cantidad de patrones.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A78BFA"/>
                </a:solidFill>
                <a:latin typeface="Segoe UI"/>
              </a:rPr>
              <a:t>RESPALDO · SI PREGUNTAN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57839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2800" b="1" i="0">
                <a:solidFill>
                  <a:srgbClr val="F8FAFC"/>
                </a:solidFill>
                <a:latin typeface="Segoe UI"/>
              </a:rPr>
              <a:t>Cómo se reproduce y se verifica, sin abrir el editor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481328"/>
            <a:ext cx="777240" cy="50292"/>
          </a:xfrm>
          <a:prstGeom prst="roundRect">
            <a:avLst>
              <a:gd name="adj" fmla="val 50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783080"/>
            <a:ext cx="11057839" cy="3072384"/>
          </a:xfrm>
          <a:prstGeom prst="roundRect">
            <a:avLst>
              <a:gd name="adj" fmla="val 4000"/>
            </a:avLst>
          </a:prstGeom>
          <a:solidFill>
            <a:srgbClr val="0B1220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86384" y="1984248"/>
            <a:ext cx="10618927" cy="2633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150" b="0" i="0">
                <a:solidFill>
                  <a:srgbClr val="94A3B8"/>
                </a:solidFill>
                <a:latin typeface="Consolas"/>
              </a:rPr>
              <a:t># Escenas: se generan solas si faltan ([InitializeOnLoad]) o por menú</a:t>
            </a:r>
          </a:p>
          <a:p>
            <a:pPr>
              <a:lnSpc>
                <a:spcPct val="100000"/>
              </a:lnSpc>
            </a:pPr>
            <a:r>
              <a:rPr sz="1150" b="0" i="0">
                <a:solidFill>
                  <a:srgbClr val="4ADE80"/>
                </a:solidFill>
                <a:latin typeface="Consolas"/>
              </a:rPr>
              <a:t>unity command --project-path . menu --path "VoidHex/Build Prototype Scenes"</a:t>
            </a:r>
          </a:p>
          <a:p>
            <a:pPr>
              <a:lnSpc>
                <a:spcPct val="100000"/>
              </a:lnSpc>
            </a:pPr>
            <a:r>
              <a:rPr sz="1150" b="0" i="0">
                <a:solidFill>
                  <a:srgbClr val="4ADE80"/>
                </a:solidFill>
                <a:latin typeface="Consolas"/>
              </a:rPr>
              <a:t/>
            </a:r>
          </a:p>
          <a:p>
            <a:pPr>
              <a:lnSpc>
                <a:spcPct val="100000"/>
              </a:lnSpc>
            </a:pPr>
            <a:r>
              <a:rPr sz="1150" b="0" i="0">
                <a:solidFill>
                  <a:srgbClr val="94A3B8"/>
                </a:solidFill>
                <a:latin typeface="Consolas"/>
              </a:rPr>
              <a:t># Suite completa contra el editor en ejecución</a:t>
            </a:r>
          </a:p>
          <a:p>
            <a:pPr>
              <a:lnSpc>
                <a:spcPct val="100000"/>
              </a:lnSpc>
            </a:pPr>
            <a:r>
              <a:rPr sz="1150" b="0" i="0">
                <a:solidFill>
                  <a:srgbClr val="4ADE80"/>
                </a:solidFill>
                <a:latin typeface="Consolas"/>
              </a:rPr>
              <a:t>unity command --project-path . run_tests --mode EditMode</a:t>
            </a:r>
          </a:p>
          <a:p>
            <a:pPr>
              <a:lnSpc>
                <a:spcPct val="100000"/>
              </a:lnSpc>
            </a:pPr>
            <a:r>
              <a:rPr sz="1150" b="0" i="0">
                <a:solidFill>
                  <a:srgbClr val="4ADE80"/>
                </a:solidFill>
                <a:latin typeface="Consolas"/>
              </a:rPr>
              <a:t>unity command --project-path . run_tests --mode PlayMode --async_tests</a:t>
            </a:r>
          </a:p>
          <a:p>
            <a:pPr>
              <a:lnSpc>
                <a:spcPct val="100000"/>
              </a:lnSpc>
            </a:pPr>
            <a:r>
              <a:rPr sz="1150" b="0" i="0">
                <a:solidFill>
                  <a:srgbClr val="4ADE80"/>
                </a:solidFill>
                <a:latin typeface="Consolas"/>
              </a:rPr>
              <a:t/>
            </a:r>
          </a:p>
          <a:p>
            <a:pPr>
              <a:lnSpc>
                <a:spcPct val="100000"/>
              </a:lnSpc>
            </a:pPr>
            <a:r>
              <a:rPr sz="1150" b="0" i="0">
                <a:solidFill>
                  <a:srgbClr val="94A3B8"/>
                </a:solidFill>
                <a:latin typeface="Consolas"/>
              </a:rPr>
              <a:t># Evidencia visual de las tres escenas</a:t>
            </a:r>
          </a:p>
          <a:p>
            <a:pPr>
              <a:lnSpc>
                <a:spcPct val="100000"/>
              </a:lnSpc>
            </a:pPr>
            <a:r>
              <a:rPr sz="1150" b="0" i="0">
                <a:solidFill>
                  <a:srgbClr val="4ADE80"/>
                </a:solidFill>
                <a:latin typeface="Consolas"/>
              </a:rPr>
              <a:t>unity command --project-path . capture_game_view --source screen --save_path captura.png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4617720"/>
            <a:ext cx="11057839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CBD5E1"/>
                </a:solidFill>
                <a:latin typeface="Segoe UI"/>
              </a:rPr>
              <a:t>Tres verificadores propios: referencias de asmdef, integridad de escenas y auditoría de la lógica pura sin Unity.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5925312"/>
            <a:ext cx="11057839" cy="475488"/>
          </a:xfrm>
          <a:prstGeom prst="roundRect">
            <a:avLst>
              <a:gd name="adj" fmla="val 12000"/>
            </a:avLst>
          </a:prstGeom>
          <a:solidFill>
            <a:srgbClr val="243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566928" y="5925312"/>
            <a:ext cx="54864" cy="475488"/>
          </a:xfrm>
          <a:prstGeom prst="round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5925312"/>
            <a:ext cx="10600639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CBD5E1"/>
                </a:solidFill>
                <a:latin typeface="Segoe UI"/>
              </a:rPr>
              <a:t>Unity 6000.5.9f1 trae el paquete com.unity.pipeline: el editor se controla por CLI.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