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s. No voy a mostrar un juego. Voy a mostrar tres problemas técnicos del TP1,</a:t>
            </a:r>
          </a:p>
          <a:p>
            <a:r>
              <a:t>la solución declarada para cada uno, y la evidencia de que funciona.</a:t>
            </a:r>
          </a:p>
          <a:p/>
          <a:p>
            <a:r>
              <a:t>Tiempo total objetivo: 18-19 minutos, dejando margen para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s. El TP2 no cambia el diagnóstico del TP1: cambia que ahora está implementado y testeado.</a:t>
            </a:r>
          </a:p>
          <a:p/>
          <a:p>
            <a:r>
              <a:t>Si preguntan "¿por qué no un juego completo?": la consigna (§4.1) pide 3 pruebas de concepto</a:t>
            </a:r>
          </a:p>
          <a:p>
            <a:r>
              <a:t>técnicamente pulidas. Agregar contenido no demuestra ninguna propiedad de diseño.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s. Esta regla es la base de los tres prototipos.</a:t>
            </a:r>
          </a:p>
          <a:p/>
          <a:p>
            <a:r>
              <a:t>Demo D2 (opcional): escribir using UnityEngine; en un archivo del dominio y mostrar el error.</a:t>
            </a:r>
          </a:p>
          <a:p>
            <a:r>
              <a:t>Plan B: captura del error ya tomada.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s. Si les doy el mismo objeto a los tres, la UI puede cambiar reglas</a:t>
            </a:r>
          </a:p>
          <a:p>
            <a:r>
              <a:t>y la IA termina escuchando eventos visuales. Ese es el problema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s. Insistir: no es una convención de estilo. Es el tipo del constructor.</a:t>
            </a:r>
          </a:p>
          <a:p/>
          <a:p>
            <a:r>
              <a:t>Si preguntan "¿y si alguien castea?": tendría que romper una capa explícitamente,</a:t>
            </a:r>
          </a:p>
          <a:p>
            <a:r>
              <a:t>y el asmdef lo impide hacia el dominio.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s. Usan reflexión: verifican que el contrato de publicación solo tenga eventos</a:t>
            </a:r>
          </a:p>
          <a:p>
            <a:r>
              <a:t>y que el de lectura no tenga mutaciones.</a:t>
            </a:r>
          </a:p>
          <a:p/>
          <a:p>
            <a:r>
              <a:t>Si mañana alguien agrega SetCell a la interfaz de lectura, el test se pone rojo</a:t>
            </a:r>
          </a:p>
          <a:p>
            <a:r>
              <a:t>antes de que llegue a la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s. ESTA SLIDE ES LA QUE CORRIGE EL MALENTENDIDO DEL TP1. No la saltees.</a:t>
            </a:r>
          </a:p>
          <a:p/>
          <a:p>
            <a:r>
              <a:t>Si el jurado espera "problema 1 = matemática hexagonal" y ve ISP,</a:t>
            </a:r>
          </a:p>
          <a:p>
            <a:r>
              <a:t>sin esta slide parece que me fui del tema. Con esta slide, es una decisión fundamentada.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s. El jugador puede intercalar acciones. El riesgo real es que el tiempo del arte</a:t>
            </a:r>
          </a:p>
          <a:p>
            <a:r>
              <a:t>termine gobernando la regla del juego.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70 s. Mirar el orden del diagrama: Validate → Execute → notifica → await.</a:t>
            </a:r>
          </a:p>
          <a:p/>
          <a:p>
            <a:r>
              <a:t>Si el jugador pulsa dos veces, el segundo comando espera en la cola:</a:t>
            </a:r>
          </a:p>
          <a:p>
            <a:r>
              <a:t>no hay estado a medio aplicar.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s. Este es el test que demuestra el desacoplamiento temporal.</a:t>
            </a:r>
          </a:p>
          <a:p/>
          <a:p>
            <a:r>
              <a:t>Pregunta que invita: "¿qué error detectaría?"</a:t>
            </a:r>
          </a:p>
          <a:p>
            <a:r>
              <a:t>→ acoplar la regla al tiempo de la animación, o intercalar dos comandos y corromper el estado.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 s. Demo D4: agregar TractorBeamCommand en vivo. Valida PA, mueve la nave enemiga,</a:t>
            </a:r>
          </a:p>
          <a:p>
            <a:r>
              <a:t>y CommandProcessor no cambia una línea.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s. Ese es el diagnóstico en una frase: si el test necesita una escena,</a:t>
            </a:r>
          </a:p>
          <a:p>
            <a:r>
              <a:t>la dependencia está mal puesta.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s. El LifetimeScope es composición: registra catálogo, config y servicio.</a:t>
            </a:r>
          </a:p>
          <a:p>
            <a:r>
              <a:t>LoadoutDemo no busca nada, recibe IEquipmentService por [Inject].</a:t>
            </a:r>
          </a:p>
          <a:p/>
          <a:p>
            <a:r>
              <a:t>Eso es lo que permite testear el servicio sin escena.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s. Columna izquierda demuestra DIP: si el catálogo viene de un servidor, el servicio no cambia.</a:t>
            </a:r>
          </a:p>
          <a:p>
            <a:r>
              <a:t>Columna derecha demuestra data-driven: el diseñador agrega contenido sin tocar C#.</a:t>
            </a:r>
          </a:p>
          <a:p/>
          <a:p>
            <a:r>
              <a:t>Demos: D5 (reemplazo MK I → MK II) y D6 (crear MK III como asset).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 s. ANTES DE PRESENTAR: reemplazar los números por los reales del Test Runner</a:t>
            </a:r>
          </a:p>
          <a:p>
            <a:r>
              <a:t>y adjuntar la captura. No decir un número que no se pueda respaldar.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s. La consigna dice que excluir un caso necesita justificación (§4.1).</a:t>
            </a:r>
          </a:p>
          <a:p>
            <a:r>
              <a:t>Cada fila tiene por dónde crecer.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s. Todos están documentados en docs/01-arquitectura.md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s. Con más tiempo, el siguiente paso sería Undo/Redo, porque el pipeline ya lo habilita.</a:t>
            </a:r>
          </a:p>
          <a:p>
            <a:r>
              <a:t>Pero eso es otro prototipo, no una deuda escondida.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usa solo si preguntan "¿los tests detectan defectos reales?".</a:t>
            </a:r>
          </a:p>
          <a:p>
            <a:r>
              <a:t>Revertir siempre con git checkout . antes de seguir.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slide responde el punto §4.4 de la consigna (contratos, null, mutabilidad,</a:t>
            </a:r>
          </a:p>
          <a:p>
            <a:r>
              <a:t>transparencia referencial, excepciones).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Código de salida 0 = suite verde.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1/21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DD4BF"/>
                </a:solidFill>
                <a:latin typeface="Segoe UI"/>
              </a:rPr>
              <a:t>PROGRAMACIÓN DE VIDEOJUEGOS III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828800"/>
            <a:ext cx="110578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8FAFC"/>
                </a:solidFill>
                <a:latin typeface="Segoe UI"/>
              </a:rPr>
              <a:t>Tres decisiones de arquitectura,
verificadas con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24612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A78BFA"/>
                </a:solidFill>
                <a:latin typeface="Segoe UI"/>
              </a:rPr>
              <a:t>Void Hex Tactics · TP2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4160520"/>
            <a:ext cx="3493008" cy="960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651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42976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8FAFC"/>
                </a:solidFill>
                <a:latin typeface="Consolas"/>
              </a:rPr>
              <a:t>P1_GridState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461772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DD4BF"/>
                </a:solidFill>
                <a:latin typeface="Segoe UI"/>
              </a:rPr>
              <a:t>ISP + Observer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9392" y="4160520"/>
            <a:ext cx="3493008" cy="960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651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80559" y="42976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8FAFC"/>
                </a:solidFill>
                <a:latin typeface="Consolas"/>
              </a:rPr>
              <a:t>P2_CommandPipeline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461772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A78BFA"/>
                </a:solidFill>
                <a:latin typeface="Segoe UI"/>
              </a:rPr>
              <a:t>Pipeline async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91855" y="4160520"/>
            <a:ext cx="3493008" cy="960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651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193023" y="42976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8FAFC"/>
                </a:solidFill>
                <a:latin typeface="Consolas"/>
              </a:rPr>
              <a:t>P3_Loadout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461772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BBF24"/>
                </a:solidFill>
                <a:latin typeface="Segoe UI"/>
              </a:rPr>
              <a:t>DI + Data-driven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623560"/>
            <a:ext cx="110578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Matias Andres Fahler   ·   Unity 6000.5.9f1   ·   tag tp2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2/21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DD4BF"/>
                </a:solidFill>
                <a:latin typeface="Segoe UI"/>
              </a:rPr>
              <a:t>QUÉ ENTREGO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F8FAFC"/>
                </a:solidFill>
                <a:latin typeface="Segoe UI"/>
              </a:rPr>
              <a:t>No es un juego: son tres decisiones verificables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783080"/>
            <a:ext cx="4699581" cy="713232"/>
          </a:xfrm>
          <a:prstGeom prst="rect">
            <a:avLst/>
          </a:prstGeom>
          <a:solidFill>
            <a:srgbClr val="24334A"/>
          </a:solidFill>
          <a:ln w="952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837943"/>
            <a:ext cx="444354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Desafío declarado en el TP1</a:t>
            </a:r>
          </a:p>
        </p:txBody>
      </p:sp>
      <p:sp>
        <p:nvSpPr>
          <p:cNvPr id="8" name="Rectangle 7"/>
          <p:cNvSpPr/>
          <p:nvPr/>
        </p:nvSpPr>
        <p:spPr>
          <a:xfrm>
            <a:off x="5266509" y="1783080"/>
            <a:ext cx="3593797" cy="713232"/>
          </a:xfrm>
          <a:prstGeom prst="rect">
            <a:avLst/>
          </a:prstGeom>
          <a:solidFill>
            <a:srgbClr val="24334A"/>
          </a:solidFill>
          <a:ln w="952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525" y="1837943"/>
            <a:ext cx="3337765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Solución declarada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60307" y="1783080"/>
            <a:ext cx="2764459" cy="713232"/>
          </a:xfrm>
          <a:prstGeom prst="rect">
            <a:avLst/>
          </a:prstGeom>
          <a:solidFill>
            <a:srgbClr val="24334A"/>
          </a:solidFill>
          <a:ln w="952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88323" y="1837943"/>
            <a:ext cx="2508427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Prototipo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496312"/>
            <a:ext cx="4699581" cy="71323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551176"/>
            <a:ext cx="444354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Exponer el mapa sin God Object ni polling en Update()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6509" y="2496312"/>
            <a:ext cx="3593797" cy="71323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525" y="2551176"/>
            <a:ext cx="3337765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ISP + Observer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60307" y="2496312"/>
            <a:ext cx="2764459" cy="71323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88323" y="2551176"/>
            <a:ext cx="2508427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P1_GridState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209544"/>
            <a:ext cx="4699581" cy="71323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3264408"/>
            <a:ext cx="444354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Alternar PA con animaciones asíncronas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6509" y="3209544"/>
            <a:ext cx="3593797" cy="71323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525" y="3264408"/>
            <a:ext cx="3337765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Pipeline ICommand + async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0307" y="3209544"/>
            <a:ext cx="2764459" cy="71323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88323" y="3264408"/>
            <a:ext cx="2508427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P2_CommandPipeline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922776"/>
            <a:ext cx="4699581" cy="71323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3977639"/>
            <a:ext cx="444354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Servicios sin singletons + módulos MK I–III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66509" y="3922776"/>
            <a:ext cx="3593797" cy="71323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4525" y="3977639"/>
            <a:ext cx="3337765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VContainer + ScriptableObjects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0307" y="3922776"/>
            <a:ext cx="2764459" cy="71323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88323" y="3977639"/>
            <a:ext cx="2508427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P3_Loadout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475488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Cada prototipo: carpeta independiente · una escena · su propia suite · dominio sin UnityEngine.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925312"/>
            <a:ext cx="11057839" cy="475488"/>
          </a:xfrm>
          <a:prstGeom prst="roundRect">
            <a:avLst>
              <a:gd name="adj" fmla="val 12000"/>
            </a:avLst>
          </a:prstGeom>
          <a:solidFill>
            <a:srgbClr val="24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566928" y="5925312"/>
            <a:ext cx="54864" cy="475488"/>
          </a:xfrm>
          <a:prstGeom prst="round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5925312"/>
            <a:ext cx="106006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La consigna pide 3 pruebas de concepto pulidas, no un juego completo.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3/21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A78BFA"/>
                </a:solidFill>
                <a:latin typeface="Segoe UI"/>
              </a:rPr>
              <a:t>REGLA DE DEPENDENCIA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F8FAFC"/>
                </a:solidFill>
                <a:latin typeface="Segoe UI"/>
              </a:rPr>
              <a:t>La arquitectura la impone el compilador, no la disciplina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66113" y="1828800"/>
            <a:ext cx="2607868" cy="8412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905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366113" y="1975104"/>
            <a:ext cx="26078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2DD4BF"/>
                </a:solidFill>
                <a:latin typeface="Segoe UI"/>
              </a:rPr>
              <a:t>Presentación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66113" y="2286000"/>
            <a:ext cx="26078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94A3B8"/>
                </a:solidFill>
                <a:latin typeface="Segoe UI"/>
              </a:rPr>
              <a:t>MonoBehaviour · VContainer · Assets SO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70048" y="2715768"/>
            <a:ext cx="0" cy="292608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366113" y="3054096"/>
            <a:ext cx="2607868" cy="8412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66113" y="3200400"/>
            <a:ext cx="26078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A78BFA"/>
                </a:solidFill>
                <a:latin typeface="Segoe UI"/>
              </a:rPr>
              <a:t>Aplicación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66113" y="3511296"/>
            <a:ext cx="26078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94A3B8"/>
                </a:solidFill>
                <a:latin typeface="Segoe UI"/>
              </a:rPr>
              <a:t>Pipeline · Servicio de equipamiento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70048" y="3941063"/>
            <a:ext cx="0" cy="292609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366113" y="4279392"/>
            <a:ext cx="2607868" cy="8412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366113" y="4425696"/>
            <a:ext cx="26078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FBBF24"/>
                </a:solidFill>
                <a:latin typeface="Segoe UI"/>
              </a:rPr>
              <a:t>Dominio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66113" y="4736592"/>
            <a:ext cx="26078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94A3B8"/>
                </a:solidFill>
                <a:latin typeface="Segoe UI"/>
              </a:rPr>
              <a:t>Reglas · Contratos · Cálculo puro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32120" y="1828800"/>
            <a:ext cx="5120640" cy="2231136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751576" y="2029968"/>
            <a:ext cx="4681727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300" b="0" i="0">
                <a:solidFill>
                  <a:srgbClr val="A78BFA"/>
                </a:solidFill>
                <a:latin typeface="Consolas"/>
              </a:rPr>
              <a:t>{</a:t>
            </a:r>
          </a:p>
          <a:p>
            <a:pPr>
              <a:lnSpc>
                <a:spcPct val="100000"/>
              </a:lnSpc>
            </a:pPr>
            <a:r>
              <a:rPr sz="1300" b="0" i="0">
                <a:solidFill>
                  <a:srgbClr val="A78BFA"/>
                </a:solidFill>
                <a:latin typeface="Consolas"/>
              </a:rPr>
              <a:t>  "name": "VoidHex.P2.Domain",</a:t>
            </a:r>
          </a:p>
          <a:p>
            <a:pPr>
              <a:lnSpc>
                <a:spcPct val="100000"/>
              </a:lnSpc>
            </a:pPr>
            <a:r>
              <a:rPr sz="1300" b="0" i="0">
                <a:solidFill>
                  <a:srgbClr val="A78BFA"/>
                </a:solidFill>
                <a:latin typeface="Consolas"/>
              </a:rPr>
              <a:t>  "references": [],</a:t>
            </a:r>
          </a:p>
          <a:p>
            <a:pPr>
              <a:lnSpc>
                <a:spcPct val="100000"/>
              </a:lnSpc>
            </a:pPr>
            <a:r>
              <a:rPr sz="1300" b="0" i="0">
                <a:solidFill>
                  <a:srgbClr val="A78BFA"/>
                </a:solidFill>
                <a:latin typeface="Consolas"/>
              </a:rPr>
              <a:t>  "noEngineReferences": true</a:t>
            </a:r>
          </a:p>
          <a:p>
            <a:pPr>
              <a:lnSpc>
                <a:spcPct val="100000"/>
              </a:lnSpc>
            </a:pPr>
            <a:r>
              <a:rPr sz="1300" b="0" i="0">
                <a:solidFill>
                  <a:srgbClr val="A78BFA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</a:pPr>
            <a:r>
              <a:rPr sz="1300" b="0" i="0">
                <a:solidFill>
                  <a:srgbClr val="A78BFA"/>
                </a:solidFill>
                <a:latin typeface="Consolas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 i="0">
                <a:solidFill>
                  <a:srgbClr val="94A3B8"/>
                </a:solidFill>
                <a:latin typeface="Consolas"/>
              </a:rPr>
              <a:t>// using UnityEngine;  →  no compila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4114800"/>
            <a:ext cx="51206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Podría prometer que el dominio es independiente del motor.
Mejor: lo demuestro rompiendo una línea en vivo.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925312"/>
            <a:ext cx="11057839" cy="475488"/>
          </a:xfrm>
          <a:prstGeom prst="roundRect">
            <a:avLst>
              <a:gd name="adj" fmla="val 12000"/>
            </a:avLst>
          </a:prstGeom>
          <a:solidFill>
            <a:srgbClr val="24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566928" y="5925312"/>
            <a:ext cx="54864" cy="475488"/>
          </a:xfrm>
          <a:prstGeom prst="round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5925312"/>
            <a:ext cx="106006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Si alguien agrega using UnityEngine en el dominio, el proyecto no compila. Sin excepciones.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4/21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DD4BF"/>
                </a:solidFill>
                <a:latin typeface="Segoe UI"/>
              </a:rPr>
              <a:t>P1 · DESAFÍO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F8FAFC"/>
                </a:solidFill>
                <a:latin typeface="Segoe UI"/>
              </a:rPr>
              <a:t>Exponer el mapa sin God Object ni polling en Update()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783080"/>
            <a:ext cx="4102101" cy="658368"/>
          </a:xfrm>
          <a:prstGeom prst="rect">
            <a:avLst/>
          </a:prstGeom>
          <a:solidFill>
            <a:srgbClr val="24334A"/>
          </a:solidFill>
          <a:ln w="952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837943"/>
            <a:ext cx="384606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Lo que NO quiero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9029" y="1783080"/>
            <a:ext cx="6955737" cy="658368"/>
          </a:xfrm>
          <a:prstGeom prst="rect">
            <a:avLst/>
          </a:prstGeom>
          <a:solidFill>
            <a:srgbClr val="24334A"/>
          </a:solidFill>
          <a:ln w="952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97045" y="1837943"/>
            <a:ext cx="669970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Por qué es un problema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41448"/>
            <a:ext cx="4102101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2496312"/>
            <a:ext cx="384606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50" b="0" i="0">
                <a:solidFill>
                  <a:srgbClr val="CBD5E1"/>
                </a:solidFill>
                <a:latin typeface="Segoe UI"/>
              </a:rPr>
              <a:t>Un GridManager que sabe todo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9029" y="2441448"/>
            <a:ext cx="6955737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97045" y="2496312"/>
            <a:ext cx="669970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50" b="0" i="0">
                <a:solidFill>
                  <a:srgbClr val="CBD5E1"/>
                </a:solidFill>
                <a:latin typeface="Segoe UI"/>
              </a:rPr>
              <a:t>God Object: nadie sabe quién muta el estado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099815"/>
            <a:ext cx="4102101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3154679"/>
            <a:ext cx="384606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50" b="0" i="0">
                <a:solidFill>
                  <a:srgbClr val="CBD5E1"/>
                </a:solidFill>
                <a:latin typeface="Segoe UI"/>
              </a:rPr>
              <a:t>Update() consultando el mapa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9029" y="3099815"/>
            <a:ext cx="6955737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7045" y="3154679"/>
            <a:ext cx="669970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50" b="0" i="0">
                <a:solidFill>
                  <a:srgbClr val="CBD5E1"/>
                </a:solidFill>
                <a:latin typeface="Segoe UI"/>
              </a:rPr>
              <a:t>CPU por frame y acoplamiento al motor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758184"/>
            <a:ext cx="4102101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3813048"/>
            <a:ext cx="384606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50" b="0" i="0">
                <a:solidFill>
                  <a:srgbClr val="CBD5E1"/>
                </a:solidFill>
                <a:latin typeface="Segoe UI"/>
              </a:rPr>
              <a:t>Un Event Bus global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69029" y="3758184"/>
            <a:ext cx="6955737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7045" y="3813048"/>
            <a:ext cx="669970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50" b="0" i="0">
                <a:solidFill>
                  <a:srgbClr val="CBD5E1"/>
                </a:solidFill>
                <a:latin typeface="Segoe UI"/>
              </a:rPr>
              <a:t>Dependencias ocultas, imposible de depurar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480560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CBD5E1"/>
                </a:solidFill>
                <a:latin typeface="Segoe UI"/>
              </a:rPr>
              <a:t>Tres consumidores, tres necesidades:
la IA lee · los comandos validan · la UI dibuja.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5/21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DD4BF"/>
                </a:solidFill>
                <a:latin typeface="Segoe UI"/>
              </a:rPr>
              <a:t>P1 ·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F8FAFC"/>
                </a:solidFill>
                <a:latin typeface="Segoe UI"/>
              </a:rPr>
              <a:t>Dos contratos: ningún consumidor puede hacer lo del otro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44287" y="2912364"/>
            <a:ext cx="2103120" cy="804672"/>
          </a:xfrm>
          <a:prstGeom prst="roundRect">
            <a:avLst>
              <a:gd name="adj" fmla="val 10000"/>
            </a:avLst>
          </a:prstGeom>
          <a:solidFill>
            <a:srgbClr val="24334A"/>
          </a:solidFill>
          <a:ln w="1905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44287" y="2985516"/>
            <a:ext cx="2103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DD4BF"/>
                </a:solidFill>
                <a:latin typeface="Segoe UI"/>
              </a:rPr>
              <a:t>GridModel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44287" y="331470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94A3B8"/>
                </a:solidFill>
                <a:latin typeface="Segoe UI"/>
              </a:rPr>
              <a:t>único dueño del estado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" y="1828800"/>
            <a:ext cx="2286000" cy="868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0664" y="1938528"/>
            <a:ext cx="2029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8FAFC"/>
                </a:solidFill>
                <a:latin typeface="Segoe UI"/>
              </a:rPr>
              <a:t>IGridQueryService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2240280"/>
            <a:ext cx="2029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lectura síncrona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93047" y="1828800"/>
            <a:ext cx="2286000" cy="868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421063" y="1938528"/>
            <a:ext cx="2029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8FAFC"/>
                </a:solidFill>
                <a:latin typeface="Segoe UI"/>
              </a:rPr>
              <a:t>IGridStatePublisher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1063" y="2240280"/>
            <a:ext cx="2029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eventos C#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" y="3950208"/>
            <a:ext cx="2286000" cy="777240"/>
          </a:xfrm>
          <a:prstGeom prst="roundRect">
            <a:avLst>
              <a:gd name="adj" fmla="val 6000"/>
            </a:avLst>
          </a:prstGeom>
          <a:solidFill>
            <a:srgbClr val="142B2E"/>
          </a:solidFill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0664" y="4059936"/>
            <a:ext cx="2029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DD4BF"/>
                </a:solidFill>
                <a:latin typeface="Segoe UI"/>
              </a:rPr>
              <a:t>Pathfinding / 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" y="4352544"/>
            <a:ext cx="2029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4A3B8"/>
                </a:solidFill>
                <a:latin typeface="Segoe UI"/>
              </a:rPr>
              <a:t>no puede mutar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93047" y="3950208"/>
            <a:ext cx="2286000" cy="777240"/>
          </a:xfrm>
          <a:prstGeom prst="roundRect">
            <a:avLst>
              <a:gd name="adj" fmla="val 6000"/>
            </a:avLst>
          </a:prstGeom>
          <a:solidFill>
            <a:srgbClr val="142B2E"/>
          </a:solidFill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421063" y="4059936"/>
            <a:ext cx="2029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DD4BF"/>
                </a:solidFill>
                <a:latin typeface="Segoe UI"/>
              </a:rPr>
              <a:t>GridPresenter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21063" y="4352544"/>
            <a:ext cx="2029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4A3B8"/>
                </a:solidFill>
                <a:latin typeface="Segoe UI"/>
              </a:rPr>
              <a:t>no puede alterar reglas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755648" y="2752344"/>
            <a:ext cx="0" cy="1179576"/>
          </a:xfrm>
          <a:prstGeom prst="line">
            <a:avLst/>
          </a:prstGeom>
          <a:ln w="15875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0436047" y="2752344"/>
            <a:ext cx="0" cy="1179576"/>
          </a:xfrm>
          <a:prstGeom prst="line">
            <a:avLst/>
          </a:prstGeom>
          <a:ln w="15875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916936" y="3314700"/>
            <a:ext cx="2127351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147407" y="3314700"/>
            <a:ext cx="2127352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6928" y="5074920"/>
            <a:ext cx="110578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Solo GridModel muta, y esos métodos no están en ningún contrato: es el tipo del constructor, no una convención.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925312"/>
            <a:ext cx="11057839" cy="475488"/>
          </a:xfrm>
          <a:prstGeom prst="roundRect">
            <a:avLst>
              <a:gd name="adj" fmla="val 12000"/>
            </a:avLst>
          </a:prstGeom>
          <a:solidFill>
            <a:srgbClr val="24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566928" y="5925312"/>
            <a:ext cx="54864" cy="475488"/>
          </a:xfrm>
          <a:prstGeom prst="round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5925312"/>
            <a:ext cx="106006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El Pathfinder recibe IGridQueryService. Aunque quisiera, no puede escribir el mapa.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6/21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DD4BF"/>
                </a:solidFill>
                <a:latin typeface="Segoe UI"/>
              </a:rPr>
              <a:t>P1 · EVIDENCIA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F8FAFC"/>
                </a:solidFill>
                <a:latin typeface="Segoe UI"/>
              </a:rPr>
              <a:t>Reactivo de verdad: sin mutación real, no hay trabajo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3493008" cy="148132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04672" y="1847088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4ADE80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48716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8FAFC"/>
                </a:solidFill>
                <a:latin typeface="Segoe UI"/>
              </a:rPr>
              <a:t>evento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7889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4A3B8"/>
                </a:solidFill>
                <a:latin typeface="Segoe UI"/>
              </a:rPr>
              <a:t>cuando la celda cambia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783080"/>
            <a:ext cx="3493008" cy="148132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17136" y="1847088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8FAFC"/>
                </a:solidFill>
                <a:latin typeface="Segoe U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48716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8FAFC"/>
                </a:solidFill>
                <a:latin typeface="Segoe UI"/>
              </a:rPr>
              <a:t>eventos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27889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4A3B8"/>
                </a:solidFill>
                <a:latin typeface="Segoe UI"/>
              </a:rPr>
              <a:t>si se escribe el mismo valor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5" y="1783080"/>
            <a:ext cx="3493008" cy="148132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599" y="1847088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94A3B8"/>
                </a:solidFill>
                <a:latin typeface="Segoe UI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248716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8FAFC"/>
                </a:solidFill>
                <a:latin typeface="Segoe UI"/>
              </a:rPr>
              <a:t>Update()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27889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4A3B8"/>
                </a:solidFill>
                <a:latin typeface="Segoe UI"/>
              </a:rPr>
              <a:t>el presentador no tiene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611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4ADE80"/>
                </a:solidFill>
                <a:latin typeface="Segoe U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3611880"/>
            <a:ext cx="10692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Consolas"/>
              </a:rPr>
              <a:t>IGridStatePublisher_ExposesOnlyEvents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01421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4ADE80"/>
                </a:solidFill>
                <a:latin typeface="Segoe U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4014216"/>
            <a:ext cx="10692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Consolas"/>
              </a:rPr>
              <a:t>IGridQueryService_ExposesNoMutatingMembers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416552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4ADE80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" y="4416552"/>
            <a:ext cx="10692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Consolas"/>
              </a:rPr>
              <a:t>SetCell_WithSameValue_DoesNotRaiseChange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925312"/>
            <a:ext cx="11057839" cy="475488"/>
          </a:xfrm>
          <a:prstGeom prst="roundRect">
            <a:avLst>
              <a:gd name="adj" fmla="val 12000"/>
            </a:avLst>
          </a:prstGeom>
          <a:solidFill>
            <a:srgbClr val="24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566928" y="5925312"/>
            <a:ext cx="54864" cy="475488"/>
          </a:xfrm>
          <a:prstGeom prst="round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925312"/>
            <a:ext cx="106006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Los dos primeros no prueban comportamiento: prueban forma, por reflexión.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7/21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DD4BF"/>
                </a:solidFill>
                <a:latin typeface="Segoe UI"/>
              </a:rPr>
              <a:t>P1 · ALCANCE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F8FAFC"/>
                </a:solidFill>
                <a:latin typeface="Segoe UI"/>
              </a:rPr>
              <a:t>El A* es el sustrato, no la tesis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CBD5E1"/>
                </a:solidFill>
                <a:latin typeface="Segoe UI"/>
              </a:rPr>
              <a:t>El informe largo del TP1 desarrolla grilla y pathfinding; el desafío declarado es la exposición del estado.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788920"/>
            <a:ext cx="3200953" cy="566928"/>
          </a:xfrm>
          <a:prstGeom prst="rect">
            <a:avLst/>
          </a:prstGeom>
          <a:solidFill>
            <a:srgbClr val="24334A"/>
          </a:solidFill>
          <a:ln w="952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843784"/>
            <a:ext cx="294492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Fuera de alcance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767881" y="2788920"/>
            <a:ext cx="7856885" cy="566928"/>
          </a:xfrm>
          <a:prstGeom prst="rect">
            <a:avLst/>
          </a:prstGeom>
          <a:solidFill>
            <a:srgbClr val="24334A"/>
          </a:solidFill>
          <a:ln w="952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95897" y="2843784"/>
            <a:ext cx="760085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Justificación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355848"/>
            <a:ext cx="3200953" cy="56692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3410712"/>
            <a:ext cx="294492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Mapas 3D multicapa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67881" y="3355848"/>
            <a:ext cx="7856885" cy="56692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95897" y="3410712"/>
            <a:ext cx="760085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El desafío es de exposición de estado, no de geometría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922776"/>
            <a:ext cx="3200953" cy="56692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77639"/>
            <a:ext cx="294492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Niebla de guerra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67881" y="3922776"/>
            <a:ext cx="7856885" cy="56692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897" y="3977639"/>
            <a:ext cx="760085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Es un sistema de conocimiento, ajeno a la exposición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489704"/>
            <a:ext cx="3200953" cy="56692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4544568"/>
            <a:ext cx="294492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Unidades como bloqueos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67881" y="4489704"/>
            <a:ext cx="7856885" cy="56692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95897" y="4544568"/>
            <a:ext cx="760085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Necesita el modelo de turnos, que es P2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056631"/>
            <a:ext cx="3200953" cy="56692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" y="5111495"/>
            <a:ext cx="294492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Event Bus global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67881" y="5056631"/>
            <a:ext cx="7856885" cy="56692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95897" y="5111495"/>
            <a:ext cx="760085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Descartado en el TP1: dependencias ocultas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925312"/>
            <a:ext cx="11057839" cy="475488"/>
          </a:xfrm>
          <a:prstGeom prst="roundRect">
            <a:avLst>
              <a:gd name="adj" fmla="val 12000"/>
            </a:avLst>
          </a:prstGeom>
          <a:solidFill>
            <a:srgbClr val="24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566928" y="5925312"/>
            <a:ext cx="54864" cy="475488"/>
          </a:xfrm>
          <a:prstGeom prst="round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5925312"/>
            <a:ext cx="106006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Cada exclusión tiene una ruta de extensión documentada, no es un olvido.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8/21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A78BFA"/>
                </a:solidFill>
                <a:latin typeface="Segoe UI"/>
              </a:rPr>
              <a:t>P2 · DESAFÍO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F8FAFC"/>
                </a:solidFill>
                <a:latin typeface="Segoe UI"/>
              </a:rPr>
              <a:t>Mover → Atacar → Mover, sin que la animación decida las reglas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783080"/>
            <a:ext cx="3685946" cy="658368"/>
          </a:xfrm>
          <a:prstGeom prst="rect">
            <a:avLst/>
          </a:prstGeom>
          <a:solidFill>
            <a:srgbClr val="24334A"/>
          </a:solidFill>
          <a:ln w="952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837943"/>
            <a:ext cx="342991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Lo que NO quiero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2874" y="1783080"/>
            <a:ext cx="7371892" cy="658368"/>
          </a:xfrm>
          <a:prstGeom prst="rect">
            <a:avLst/>
          </a:prstGeom>
          <a:solidFill>
            <a:srgbClr val="24334A"/>
          </a:solidFill>
          <a:ln w="952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0890" y="1837943"/>
            <a:ext cx="71158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Por qué es un problema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41448"/>
            <a:ext cx="3685946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2496312"/>
            <a:ext cx="342991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TurnManager con corrutinas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2874" y="2441448"/>
            <a:ext cx="7371892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0890" y="2496312"/>
            <a:ext cx="71158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WaitForSeconds mete el tiempo del arte dentro de la regla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099815"/>
            <a:ext cx="3685946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3154679"/>
            <a:ext cx="342991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FSM con un estado por acción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2874" y="3099815"/>
            <a:ext cx="7371892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0890" y="3154679"/>
            <a:ext cx="71158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Explota en combinaciones al agregar módulos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758184"/>
            <a:ext cx="3685946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3813048"/>
            <a:ext cx="342991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Un comando por cada orden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2874" y="3758184"/>
            <a:ext cx="7371892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0890" y="3813048"/>
            <a:ext cx="71158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Obliga a tocar el controlador central cada vez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48056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CBD5E1"/>
                </a:solidFill>
                <a:latin typeface="Segoe UI"/>
              </a:rPr>
              <a:t>La pregunta difícil no es “¿puede moverse?”.
Es cuándo se aplica el efecto: antes o después de la animación.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9/21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A78BFA"/>
                </a:solidFill>
                <a:latin typeface="Segoe UI"/>
              </a:rPr>
              <a:t>P2 ·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F8FAFC"/>
                </a:solidFill>
                <a:latin typeface="Segoe UI"/>
              </a:rPr>
              <a:t>La regla se aplica al instante, la animación espera después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1962851" cy="84124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778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66928" y="2020824"/>
            <a:ext cx="19628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A78BFA"/>
                </a:solidFill>
                <a:latin typeface="Segoe UI"/>
              </a:rPr>
              <a:t>ICommand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331720"/>
            <a:ext cx="196285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94A3B8"/>
                </a:solidFill>
                <a:latin typeface="Segoe UI"/>
              </a:rPr>
              <a:t>inmutable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57211" y="2295144"/>
            <a:ext cx="256032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840675" y="1874519"/>
            <a:ext cx="1962851" cy="84124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778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840675" y="2020824"/>
            <a:ext cx="19628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A78BFA"/>
                </a:solidFill>
                <a:latin typeface="Segoe UI"/>
              </a:rPr>
              <a:t>Validate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40675" y="2331720"/>
            <a:ext cx="196285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94A3B8"/>
                </a:solidFill>
                <a:latin typeface="Segoe UI"/>
              </a:rPr>
              <a:t>¿PA / objetivo?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30958" y="2295144"/>
            <a:ext cx="256032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14422" y="1874519"/>
            <a:ext cx="1962851" cy="84124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778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114422" y="2020824"/>
            <a:ext cx="19628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4ADE80"/>
                </a:solidFill>
                <a:latin typeface="Segoe UI"/>
              </a:rPr>
              <a:t>Execute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4422" y="2331720"/>
            <a:ext cx="196285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94A3B8"/>
                </a:solidFill>
                <a:latin typeface="Segoe UI"/>
              </a:rPr>
              <a:t>instantáneo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04705" y="2295144"/>
            <a:ext cx="256032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388169" y="1874519"/>
            <a:ext cx="1962851" cy="84124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778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88169" y="2020824"/>
            <a:ext cx="19628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4ADE80"/>
                </a:solidFill>
                <a:latin typeface="Segoe UI"/>
              </a:rPr>
              <a:t>Notifica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88169" y="2331720"/>
            <a:ext cx="196285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94A3B8"/>
                </a:solidFill>
                <a:latin typeface="Segoe UI"/>
              </a:rPr>
              <a:t>estado ya cambiado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378452" y="2295144"/>
            <a:ext cx="256032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661916" y="1874519"/>
            <a:ext cx="1962851" cy="84124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778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61916" y="2020824"/>
            <a:ext cx="19628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94A3B8"/>
                </a:solidFill>
                <a:latin typeface="Segoe UI"/>
              </a:rPr>
              <a:t>await vista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61916" y="2331720"/>
            <a:ext cx="196285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94A3B8"/>
                </a:solidFill>
                <a:latin typeface="Segoe UI"/>
              </a:rPr>
              <a:t>animación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822100" y="2734056"/>
            <a:ext cx="0" cy="365759"/>
          </a:xfrm>
          <a:prstGeom prst="line">
            <a:avLst/>
          </a:prstGeom>
          <a:ln w="15875">
            <a:solidFill>
              <a:srgbClr val="F8717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575499" y="3118104"/>
            <a:ext cx="2057400" cy="502920"/>
          </a:xfrm>
          <a:prstGeom prst="roundRect">
            <a:avLst>
              <a:gd name="adj" fmla="val 6000"/>
            </a:avLst>
          </a:prstGeom>
          <a:solidFill>
            <a:srgbClr val="2E1515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575499" y="3209544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F87171"/>
                </a:solidFill>
                <a:latin typeface="Segoe UI"/>
              </a:rPr>
              <a:t>rechazo con motivo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931920"/>
            <a:ext cx="3493008" cy="1051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86384" y="405993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A78BFA"/>
                </a:solidFill>
                <a:latin typeface="Segoe UI"/>
              </a:rPr>
              <a:t>Único dueño del estado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" y="43891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CBD5E1"/>
                </a:solidFill>
                <a:latin typeface="Segoe UI"/>
              </a:rPr>
              <a:t>CommandProcessor. Nadie más lo reemplaza.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79392" y="3931920"/>
            <a:ext cx="3493008" cy="1051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498848" y="405993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A78BFA"/>
                </a:solidFill>
                <a:latin typeface="Segoe UI"/>
              </a:rPr>
              <a:t>Cola serializada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98848" y="43891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CBD5E1"/>
                </a:solidFill>
                <a:latin typeface="Segoe UI"/>
              </a:rPr>
              <a:t>Dos envíos seguidos no se intercalan.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91855" y="3931920"/>
            <a:ext cx="3493008" cy="1051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211311" y="405993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A78BFA"/>
                </a:solidFill>
                <a:latin typeface="Segoe UI"/>
              </a:rPr>
              <a:t>Solo tres fases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11311" y="43891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CBD5E1"/>
                </a:solidFill>
                <a:latin typeface="Segoe UI"/>
              </a:rPr>
              <a:t>PlayerTurn · Executing · EnemyTurn.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5925312"/>
            <a:ext cx="11057839" cy="475488"/>
          </a:xfrm>
          <a:prstGeom prst="roundRect">
            <a:avLst>
              <a:gd name="adj" fmla="val 12000"/>
            </a:avLst>
          </a:prstGeom>
          <a:solidFill>
            <a:srgbClr val="24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566928" y="5925312"/>
            <a:ext cx="54864" cy="475488"/>
          </a:xfrm>
          <a:prstGeom prst="round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4672" y="5925312"/>
            <a:ext cx="106006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Cuando el pipeline vuelve de Execute, el estado ya cambió. La animación no puede condicionarlo.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10/21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A78BFA"/>
                </a:solidFill>
                <a:latin typeface="Segoe UI"/>
              </a:rPr>
              <a:t>P2 · EVIDENCIA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F8FAFC"/>
                </a:solidFill>
                <a:latin typeface="Segoe UI"/>
              </a:rPr>
              <a:t>El estado cambia antes de que termine la animación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57839" cy="749808"/>
          </a:xfrm>
          <a:prstGeom prst="roundRect">
            <a:avLst>
              <a:gd name="adj" fmla="val 10000"/>
            </a:avLst>
          </a:prstGeom>
          <a:solidFill>
            <a:srgbClr val="24334A"/>
          </a:solidFill>
          <a:ln w="1778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1783080"/>
            <a:ext cx="1050919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A78BFA"/>
                </a:solidFill>
                <a:latin typeface="Consolas"/>
              </a:rPr>
              <a:t>Submit_AppliesLogicBeforeTheAnimationCompletes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788920"/>
            <a:ext cx="411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78BFA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807208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8FAFC"/>
                </a:solidFill>
                <a:latin typeface="Segoe UI"/>
              </a:rPr>
              <a:t>Posición y PA ya cambiaron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099815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4A3B8"/>
                </a:solidFill>
                <a:latin typeface="Segoe UI"/>
              </a:rPr>
              <a:t>el efecto lógico está aplicado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575303"/>
            <a:ext cx="411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78BFA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3593591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8FAFC"/>
                </a:solidFill>
                <a:latin typeface="Segoe UI"/>
              </a:rPr>
              <a:t>Phase == Executing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3886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4A3B8"/>
                </a:solidFill>
                <a:latin typeface="Segoe UI"/>
              </a:rPr>
              <a:t>la animación está en curso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361688"/>
            <a:ext cx="411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78BFA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4379975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8FAFC"/>
                </a:solidFill>
                <a:latin typeface="Segoe UI"/>
              </a:rPr>
              <a:t>El Task sigue pendiente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4672583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4A3B8"/>
                </a:solidFill>
                <a:latin typeface="Segoe UI"/>
              </a:rPr>
              <a:t>todavía no terminó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2743200"/>
            <a:ext cx="5120640" cy="960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524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693408" y="2871216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4ADE80"/>
                </a:solidFill>
                <a:latin typeface="Segoe UI"/>
              </a:rPr>
              <a:t>Segundo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408" y="3127248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BD5E1"/>
                </a:solidFill>
                <a:latin typeface="Consolas"/>
              </a:rPr>
              <a:t>Submit_SecondCommand_QueuesUntil
TheFirstAnimationCompletes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925312"/>
            <a:ext cx="11057839" cy="475488"/>
          </a:xfrm>
          <a:prstGeom prst="roundRect">
            <a:avLst>
              <a:gd name="adj" fmla="val 12000"/>
            </a:avLst>
          </a:prstGeom>
          <a:solidFill>
            <a:srgbClr val="24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566928" y="5925312"/>
            <a:ext cx="54864" cy="475488"/>
          </a:xfrm>
          <a:prstGeom prst="round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5925312"/>
            <a:ext cx="106006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Si alguien espera la animación antes de mutar el estado, este test falla.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11/21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A78BFA"/>
                </a:solidFill>
                <a:latin typeface="Segoe UI"/>
              </a:rPr>
              <a:t>P2 · EXTENSIBILIDAD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F8FAFC"/>
                </a:solidFill>
                <a:latin typeface="Segoe UI"/>
              </a:rPr>
              <a:t>Agregar una habilidad es crear una clase, no modificar el sistema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651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66928" y="1938528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A78BFA"/>
                </a:solidFill>
                <a:latin typeface="Segoe UI"/>
              </a:rPr>
              <a:t>MoveCommand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12848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Segoe UI"/>
              </a:rPr>
              <a:t>implementado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49907" y="2505456"/>
            <a:ext cx="0" cy="365759"/>
          </a:xfrm>
          <a:prstGeom prst="line">
            <a:avLst/>
          </a:prstGeom>
          <a:ln w="15875">
            <a:solidFill>
              <a:srgbClr val="A78BF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788920" y="1828800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651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788920" y="1938528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A78BFA"/>
                </a:solidFill>
                <a:latin typeface="Segoe UI"/>
              </a:rPr>
              <a:t>AttackCommand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212848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Segoe UI"/>
              </a:rPr>
              <a:t>implementado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71900" y="2505456"/>
            <a:ext cx="0" cy="365759"/>
          </a:xfrm>
          <a:prstGeom prst="line">
            <a:avLst/>
          </a:prstGeom>
          <a:ln w="15875">
            <a:solidFill>
              <a:srgbClr val="A78BF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010912" y="1828800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651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10912" y="1938528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A78BFA"/>
                </a:solidFill>
                <a:latin typeface="Segoe UI"/>
              </a:rPr>
              <a:t>ShieldCommand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10912" y="2212848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Segoe UI"/>
              </a:rPr>
              <a:t>implementado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93892" y="2505456"/>
            <a:ext cx="0" cy="365759"/>
          </a:xfrm>
          <a:prstGeom prst="line">
            <a:avLst/>
          </a:prstGeom>
          <a:ln w="15875">
            <a:solidFill>
              <a:srgbClr val="A78BF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232903" y="1828800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651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232903" y="1938528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4ADE80"/>
                </a:solidFill>
                <a:latin typeface="Segoe UI"/>
              </a:rPr>
              <a:t>TractorBeamCommand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2903" y="2212848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Segoe UI"/>
              </a:rPr>
              <a:t>en vivo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15883" y="2505456"/>
            <a:ext cx="0" cy="365759"/>
          </a:xfrm>
          <a:prstGeom prst="line">
            <a:avLst/>
          </a:prstGeom>
          <a:ln w="15875">
            <a:solidFill>
              <a:srgbClr val="4ADE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66928" y="2889504"/>
            <a:ext cx="11057839" cy="566928"/>
          </a:xfrm>
          <a:prstGeom prst="roundRect">
            <a:avLst>
              <a:gd name="adj" fmla="val 10000"/>
            </a:avLst>
          </a:prstGeom>
          <a:solidFill>
            <a:srgbClr val="24334A"/>
          </a:solidFill>
          <a:ln w="2032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66928" y="2889504"/>
            <a:ext cx="1105783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4ADE80"/>
                </a:solidFill>
                <a:latin typeface="Segoe UI"/>
              </a:rPr>
              <a:t>ICommand  →  CommandProcessor  (no cambia)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7947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ADE80"/>
                </a:solidFill>
                <a:latin typeface="Consolas"/>
              </a:rPr>
              <a:t>✓  Submit_NewCommandVariant_RequiresNoPipelineChange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34340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Diferido: Undo/Redo. El TP1 lo menciona como capacidad que el patrón habilita, no como requisito del prototipo.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925312"/>
            <a:ext cx="11057839" cy="475488"/>
          </a:xfrm>
          <a:prstGeom prst="roundRect">
            <a:avLst>
              <a:gd name="adj" fmla="val 12000"/>
            </a:avLst>
          </a:prstGeom>
          <a:solidFill>
            <a:srgbClr val="24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566928" y="5925312"/>
            <a:ext cx="54864" cy="475488"/>
          </a:xfrm>
          <a:prstGeom prst="round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5925312"/>
            <a:ext cx="106006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ShieldCommand ya existe y el pipeline no se enteró.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12/21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BBF24"/>
                </a:solidFill>
                <a:latin typeface="Segoe UI"/>
              </a:rPr>
              <a:t>P3 · DESAFÍO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F8FAFC"/>
                </a:solidFill>
                <a:latin typeface="Segoe UI"/>
              </a:rPr>
              <a:t>Sin GameManager.Instance y sin Service Locator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783080"/>
            <a:ext cx="3839527" cy="658368"/>
          </a:xfrm>
          <a:prstGeom prst="rect">
            <a:avLst/>
          </a:prstGeom>
          <a:solidFill>
            <a:srgbClr val="24334A"/>
          </a:solidFill>
          <a:ln w="952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837943"/>
            <a:ext cx="358349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Lo que NO quiero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6455" y="1783080"/>
            <a:ext cx="7218311" cy="658368"/>
          </a:xfrm>
          <a:prstGeom prst="rect">
            <a:avLst/>
          </a:prstGeom>
          <a:solidFill>
            <a:srgbClr val="24334A"/>
          </a:solidFill>
          <a:ln w="952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4471" y="1837943"/>
            <a:ext cx="69622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Por qué es un problema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41448"/>
            <a:ext cx="3839527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2496312"/>
            <a:ext cx="358349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GameManager.Instance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6455" y="2441448"/>
            <a:ext cx="7218311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4471" y="2496312"/>
            <a:ext cx="69622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Dependencias ocultas y estado global mutable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099815"/>
            <a:ext cx="3839527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3154679"/>
            <a:ext cx="358349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Service Locator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6455" y="3099815"/>
            <a:ext cx="7218311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4471" y="3154679"/>
            <a:ext cx="69622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Mismo problema con otro nombre: la clase pide, no recibe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758184"/>
            <a:ext cx="3839527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3813048"/>
            <a:ext cx="358349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Stats calculadas dentro del SO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06455" y="3758184"/>
            <a:ext cx="7218311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34471" y="3813048"/>
            <a:ext cx="69622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El cálculo queda atado al motor y no se puede testear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480560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CBD5E1"/>
                </a:solidFill>
                <a:latin typeface="Segoe UI"/>
              </a:rPr>
              <a:t>El síntoma es fácil de ver: si para testear tengo que abrir una escena, la dependencia está mal puesta.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13/21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BBF24"/>
                </a:solidFill>
                <a:latin typeface="Segoe UI"/>
              </a:rPr>
              <a:t>P3 ·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F8FAFC"/>
                </a:solidFill>
                <a:latin typeface="Segoe UI"/>
              </a:rPr>
              <a:t>Dependencias por constructor, datos como assets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24334A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04672" y="1956816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BF24"/>
                </a:solidFill>
                <a:latin typeface="Segoe UI"/>
              </a:rPr>
              <a:t>EquipmentLifetimeScope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267712"/>
            <a:ext cx="2057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composición · 1 por escena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81567" y="1828800"/>
            <a:ext cx="2697480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524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027871" y="192024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A78BFA"/>
                </a:solidFill>
                <a:latin typeface="Segoe UI"/>
              </a:rPr>
              <a:t>ModuleCatalogAsset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7871" y="2194560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Flyweight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3035807" y="2157984"/>
            <a:ext cx="5800040" cy="128016"/>
          </a:xfrm>
          <a:prstGeom prst="line">
            <a:avLst/>
          </a:prstGeom>
          <a:ln w="15875">
            <a:solidFill>
              <a:srgbClr val="3341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881567" y="2615184"/>
            <a:ext cx="2697480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524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027871" y="2706624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ShipConfig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7871" y="2980944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stats base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35807" y="2286000"/>
            <a:ext cx="5800040" cy="658368"/>
          </a:xfrm>
          <a:prstGeom prst="line">
            <a:avLst/>
          </a:prstGeom>
          <a:ln w="15875">
            <a:solidFill>
              <a:srgbClr val="3341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881567" y="3401568"/>
            <a:ext cx="2697480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524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27871" y="3493008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4ADE80"/>
                </a:solidFill>
                <a:latin typeface="Segoe UI"/>
              </a:rPr>
              <a:t>IEquipmentService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7871" y="37673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contrato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035807" y="2286000"/>
            <a:ext cx="5800040" cy="1444752"/>
          </a:xfrm>
          <a:prstGeom prst="line">
            <a:avLst/>
          </a:prstGeom>
          <a:ln w="15875">
            <a:solidFill>
              <a:srgbClr val="3341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724247" y="4005072"/>
            <a:ext cx="2743200" cy="713232"/>
          </a:xfrm>
          <a:prstGeom prst="roundRect">
            <a:avLst>
              <a:gd name="adj" fmla="val 6000"/>
            </a:avLst>
          </a:prstGeom>
          <a:solidFill>
            <a:srgbClr val="1A2418"/>
          </a:solidFill>
          <a:ln w="1524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724247" y="4114800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4ADE80"/>
                </a:solidFill>
                <a:latin typeface="Segoe UI"/>
              </a:rPr>
              <a:t>LoadoutDemo  [Inject]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24247" y="4407408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no busca: recibe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5074920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El contenedor vive en Presentación. El servicio ni sabe que existe VContainer: recibe una interfaz.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925312"/>
            <a:ext cx="11057839" cy="475488"/>
          </a:xfrm>
          <a:prstGeom prst="roundRect">
            <a:avLst>
              <a:gd name="adj" fmla="val 12000"/>
            </a:avLst>
          </a:prstGeom>
          <a:solidFill>
            <a:srgbClr val="24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66928" y="5925312"/>
            <a:ext cx="54864" cy="475488"/>
          </a:xfrm>
          <a:prstGeom prst="round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925312"/>
            <a:ext cx="106006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ScriptableObject es adaptador, no modelo: el dominio recibe ModuleDefinition.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14/21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BBF24"/>
                </a:solidFill>
                <a:latin typeface="Segoe UI"/>
              </a:rPr>
              <a:t>P3 · EVIDENCIA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F8FAFC"/>
                </a:solidFill>
                <a:latin typeface="Segoe UI"/>
              </a:rPr>
              <a:t>Testeable sin Unity y ampliable sin recompilar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04672" y="1965960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BBF24"/>
                </a:solidFill>
                <a:latin typeface="Segoe UI"/>
              </a:rPr>
              <a:t>DIP: mock inyectado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50008"/>
            <a:ext cx="4983480" cy="118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CBD5E1"/>
                </a:solidFill>
                <a:latin typeface="Segoe UI"/>
              </a:rPr>
              <a:t>·  EquipmentService recibe IModuleCatalog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CBD5E1"/>
                </a:solidFill>
                <a:latin typeface="Segoe UI"/>
              </a:rPr>
              <a:t>·  El fake cuenta las consultas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CBD5E1"/>
                </a:solidFill>
                <a:latin typeface="Segoe UI"/>
              </a:rPr>
              <a:t>·  Corre en Edit Mode, sin escena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ADE80"/>
                </a:solidFill>
                <a:latin typeface="Segoe UI"/>
              </a:rPr>
              <a:t>Data-driven: sin 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350008"/>
            <a:ext cx="4983480" cy="118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CBD5E1"/>
                </a:solidFill>
                <a:latin typeface="Segoe UI"/>
              </a:rPr>
              <a:t>·  Crear un ShipModuleAsset MK III en el inspector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CBD5E1"/>
                </a:solidFill>
                <a:latin typeface="Segoe UI"/>
              </a:rPr>
              <a:t>·  Se equipa y recalcula stats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CBD5E1"/>
                </a:solidFill>
                <a:latin typeface="Segoe UI"/>
              </a:rPr>
              <a:t>·  No se recompila nada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977639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ADE80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3977639"/>
            <a:ext cx="10692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TryEquip_ReplacingModule_DoesNotDoubleCount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39826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ADE80"/>
                </a:solidFill>
                <a:latin typeface="Segoe U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98264"/>
            <a:ext cx="10692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EquipmentService_WithInjectedFakeCatalog_ResolvesModulesById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25312"/>
            <a:ext cx="11057839" cy="475488"/>
          </a:xfrm>
          <a:prstGeom prst="roundRect">
            <a:avLst>
              <a:gd name="adj" fmla="val 12000"/>
            </a:avLst>
          </a:prstGeom>
          <a:solidFill>
            <a:srgbClr val="24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566928" y="5925312"/>
            <a:ext cx="54864" cy="475488"/>
          </a:xfrm>
          <a:prstGeom prst="round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5925312"/>
            <a:ext cx="106006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Un slot por tipo: el estado inválido “módulo en slot incompatible” no puede existir.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15/21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8FAFC"/>
                </a:solidFill>
                <a:latin typeface="Segoe UI"/>
              </a:rPr>
              <a:t>TRAZABILIDAD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F8FAFC"/>
                </a:solidFill>
                <a:latin typeface="Segoe UI"/>
              </a:rPr>
              <a:t>Cada comportamiento tiene un test y un defecto declarado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783080"/>
            <a:ext cx="3851606" cy="786384"/>
          </a:xfrm>
          <a:prstGeom prst="rect">
            <a:avLst/>
          </a:prstGeom>
          <a:solidFill>
            <a:srgbClr val="24334A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837943"/>
            <a:ext cx="359557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Comportamiento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4418534" y="1783080"/>
            <a:ext cx="3478870" cy="786384"/>
          </a:xfrm>
          <a:prstGeom prst="rect">
            <a:avLst/>
          </a:prstGeom>
          <a:solidFill>
            <a:srgbClr val="24334A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46550" y="1837943"/>
            <a:ext cx="322283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Test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97405" y="1783080"/>
            <a:ext cx="3727361" cy="786384"/>
          </a:xfrm>
          <a:prstGeom prst="rect">
            <a:avLst/>
          </a:prstGeom>
          <a:solidFill>
            <a:srgbClr val="24334A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5421" y="1837943"/>
            <a:ext cx="347132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Error que detectaría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69464"/>
            <a:ext cx="3851606" cy="78638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624328"/>
            <a:ext cx="359557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00" b="0" i="0">
                <a:solidFill>
                  <a:srgbClr val="CBD5E1"/>
                </a:solidFill>
                <a:latin typeface="Segoe UI"/>
              </a:rPr>
              <a:t>El evento solo se emite si hay mutación real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18534" y="2569464"/>
            <a:ext cx="3478870" cy="78638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6550" y="2624328"/>
            <a:ext cx="322283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00" b="0" i="0">
                <a:solidFill>
                  <a:srgbClr val="CBD5E1"/>
                </a:solidFill>
                <a:latin typeface="Segoe UI"/>
              </a:rPr>
              <a:t>SetCell_WithSameValue_…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97405" y="2569464"/>
            <a:ext cx="3727361" cy="78638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25421" y="2624328"/>
            <a:ext cx="347132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00" b="0" i="0">
                <a:solidFill>
                  <a:srgbClr val="CBD5E1"/>
                </a:solidFill>
                <a:latin typeface="Segoe UI"/>
              </a:rPr>
              <a:t>Polling disfrazado de reactividad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355848"/>
            <a:ext cx="3851606" cy="78638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3410712"/>
            <a:ext cx="359557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00" b="0" i="0">
                <a:solidFill>
                  <a:srgbClr val="CBD5E1"/>
                </a:solidFill>
                <a:latin typeface="Segoe UI"/>
              </a:rPr>
              <a:t>El estado cambia antes de la animación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18534" y="3355848"/>
            <a:ext cx="3478870" cy="78638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6550" y="3410712"/>
            <a:ext cx="322283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00" b="0" i="0">
                <a:solidFill>
                  <a:srgbClr val="CBD5E1"/>
                </a:solidFill>
                <a:latin typeface="Segoe UI"/>
              </a:rPr>
              <a:t>Submit_AppliesLogicBefore…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97405" y="3355848"/>
            <a:ext cx="3727361" cy="78638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25421" y="3410712"/>
            <a:ext cx="347132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00" b="0" i="0">
                <a:solidFill>
                  <a:srgbClr val="CBD5E1"/>
                </a:solidFill>
                <a:latin typeface="Segoe UI"/>
              </a:rPr>
              <a:t>Regla acoplada al tiempo del arte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142232"/>
            <a:ext cx="3851606" cy="78638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197096"/>
            <a:ext cx="359557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00" b="0" i="0">
                <a:solidFill>
                  <a:srgbClr val="CBD5E1"/>
                </a:solidFill>
                <a:latin typeface="Segoe UI"/>
              </a:rPr>
              <a:t>Reemplazar un módulo no duplica stats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18534" y="4142232"/>
            <a:ext cx="3478870" cy="78638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46550" y="4197096"/>
            <a:ext cx="322283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00" b="0" i="0">
                <a:solidFill>
                  <a:srgbClr val="CBD5E1"/>
                </a:solidFill>
                <a:latin typeface="Segoe UI"/>
              </a:rPr>
              <a:t>TryEquip_ReplacingModule_…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97405" y="4142232"/>
            <a:ext cx="3727361" cy="786384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25421" y="4197096"/>
            <a:ext cx="347132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00" b="0" i="0">
                <a:solidFill>
                  <a:srgbClr val="CBD5E1"/>
                </a:solidFill>
                <a:latin typeface="Segoe UI"/>
              </a:rPr>
              <a:t>Sumar el módulo viejo y el nuevo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4892040"/>
            <a:ext cx="110578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CBD5E1"/>
                </a:solidFill>
                <a:latin typeface="Segoe UI"/>
              </a:rPr>
              <a:t>21 tests en Edit Mode  ·  1 en Play Mode  ·  el único Play Mode es P2, porque es el único donde importa que Unity invoque al adaptador.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925312"/>
            <a:ext cx="11057839" cy="475488"/>
          </a:xfrm>
          <a:prstGeom prst="roundRect">
            <a:avLst>
              <a:gd name="adj" fmla="val 12000"/>
            </a:avLst>
          </a:prstGeom>
          <a:solidFill>
            <a:srgbClr val="24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566928" y="5925312"/>
            <a:ext cx="54864" cy="475488"/>
          </a:xfrm>
          <a:prstGeom prst="round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5925312"/>
            <a:ext cx="106006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No hay un test por método: hay un test por regla, y cada uno responde qué error detectaría.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16/21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87171"/>
                </a:solidFill>
                <a:latin typeface="Segoe UI"/>
              </a:rPr>
              <a:t>ALCANCE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F8FAFC"/>
                </a:solidFill>
                <a:latin typeface="Segoe UI"/>
              </a:rPr>
              <a:t>Esto es lo que dejé afuera, y por qué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783080"/>
            <a:ext cx="2981889" cy="621792"/>
          </a:xfrm>
          <a:prstGeom prst="rect">
            <a:avLst/>
          </a:prstGeom>
          <a:solidFill>
            <a:srgbClr val="24334A"/>
          </a:solidFill>
          <a:ln w="952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837943"/>
            <a:ext cx="272585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Excluido</a:t>
            </a:r>
          </a:p>
        </p:txBody>
      </p:sp>
      <p:sp>
        <p:nvSpPr>
          <p:cNvPr id="8" name="Rectangle 7"/>
          <p:cNvSpPr/>
          <p:nvPr/>
        </p:nvSpPr>
        <p:spPr>
          <a:xfrm>
            <a:off x="3548817" y="1783080"/>
            <a:ext cx="3975852" cy="621792"/>
          </a:xfrm>
          <a:prstGeom prst="rect">
            <a:avLst/>
          </a:prstGeom>
          <a:solidFill>
            <a:srgbClr val="24334A"/>
          </a:solidFill>
          <a:ln w="952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76833" y="1837943"/>
            <a:ext cx="37198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Justificación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24669" y="1783080"/>
            <a:ext cx="4100097" cy="621792"/>
          </a:xfrm>
          <a:prstGeom prst="rect">
            <a:avLst/>
          </a:prstGeom>
          <a:solidFill>
            <a:srgbClr val="24334A"/>
          </a:solidFill>
          <a:ln w="952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2685" y="1837943"/>
            <a:ext cx="384406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Ruta de extensión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404872"/>
            <a:ext cx="2981889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459736"/>
            <a:ext cx="272585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Undo / Redo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48817" y="2404872"/>
            <a:ext cx="3975852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76833" y="2459736"/>
            <a:ext cx="37198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Capacidad habilitada, no requisito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24669" y="2404872"/>
            <a:ext cx="4100097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52685" y="2459736"/>
            <a:ext cx="384406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Historial de estados en el pipeline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026664"/>
            <a:ext cx="2981889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3081528"/>
            <a:ext cx="272585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IA enemiga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48817" y="3026664"/>
            <a:ext cx="3975852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76833" y="3081528"/>
            <a:ext cx="37198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El desafío es el flujo, no la búsqueda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24669" y="3026664"/>
            <a:ext cx="4100097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52685" y="3081528"/>
            <a:ext cx="384406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El pipeline acepta cualquier ICommand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648456"/>
            <a:ext cx="2981889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3703320"/>
            <a:ext cx="272585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Arte y animaciones reales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48817" y="3648456"/>
            <a:ext cx="3975852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76833" y="3703320"/>
            <a:ext cx="37198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No demuestran la propiedad y acoplan tiempos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24669" y="3648456"/>
            <a:ext cx="4100097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52685" y="3703320"/>
            <a:ext cx="384406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ShipView es el punto de sustitución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270248"/>
            <a:ext cx="2981889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4325112"/>
            <a:ext cx="272585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Modificadores multiplicativos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48817" y="4270248"/>
            <a:ext cx="3975852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76833" y="4325112"/>
            <a:ext cx="37198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Ningún módulo del alcance los usa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24669" y="4270248"/>
            <a:ext cx="4100097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52685" y="4325112"/>
            <a:ext cx="384406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StatModifier con operación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892040"/>
            <a:ext cx="2981889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4944" y="4946904"/>
            <a:ext cx="272585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Mapas 3D / niebla de guerra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48817" y="4892040"/>
            <a:ext cx="3975852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76833" y="4946904"/>
            <a:ext cx="37198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Otro sistema, no exposición de estado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524669" y="4892040"/>
            <a:ext cx="4100097" cy="62179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52685" y="4946904"/>
            <a:ext cx="384406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Capa sobre IGridQueryService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5925312"/>
            <a:ext cx="11057839" cy="475488"/>
          </a:xfrm>
          <a:prstGeom prst="roundRect">
            <a:avLst>
              <a:gd name="adj" fmla="val 12000"/>
            </a:avLst>
          </a:prstGeom>
          <a:solidFill>
            <a:srgbClr val="24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566928" y="5925312"/>
            <a:ext cx="54864" cy="475488"/>
          </a:xfrm>
          <a:prstGeom prst="round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" y="5925312"/>
            <a:ext cx="106006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No son las cosas que no llegué a hacer: son las que decidí no hacer.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17/21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A78BFA"/>
                </a:solidFill>
                <a:latin typeface="Segoe UI"/>
              </a:rPr>
              <a:t>AJUSTES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F8FAFC"/>
                </a:solidFill>
                <a:latin typeface="Segoe UI"/>
              </a:rPr>
              <a:t>Qué cambié respecto del TP1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783080"/>
            <a:ext cx="3642582" cy="713232"/>
          </a:xfrm>
          <a:prstGeom prst="rect">
            <a:avLst/>
          </a:prstGeom>
          <a:solidFill>
            <a:srgbClr val="24334A"/>
          </a:solidFill>
          <a:ln w="952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837943"/>
            <a:ext cx="338655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TP1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9510" y="1783080"/>
            <a:ext cx="4032859" cy="713232"/>
          </a:xfrm>
          <a:prstGeom prst="rect">
            <a:avLst/>
          </a:prstGeom>
          <a:solidFill>
            <a:srgbClr val="24334A"/>
          </a:solidFill>
          <a:ln w="952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37526" y="1837943"/>
            <a:ext cx="3776827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TP2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42369" y="1783080"/>
            <a:ext cx="3382397" cy="713232"/>
          </a:xfrm>
          <a:prstGeom prst="rect">
            <a:avLst/>
          </a:prstGeom>
          <a:solidFill>
            <a:srgbClr val="24334A"/>
          </a:solidFill>
          <a:ln w="952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70385" y="1837943"/>
            <a:ext cx="3126365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Motivo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496312"/>
            <a:ext cx="3642582" cy="71323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551176"/>
            <a:ext cx="338655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00" b="0" i="0">
                <a:solidFill>
                  <a:srgbClr val="CBD5E1"/>
                </a:solidFill>
                <a:latin typeface="Segoe UI"/>
              </a:rPr>
              <a:t>ExecuteAsync devuelve UniTask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9510" y="2496312"/>
            <a:ext cx="4032859" cy="71323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37526" y="2551176"/>
            <a:ext cx="3776827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00" b="0" i="0">
                <a:solidFill>
                  <a:srgbClr val="CBD5E1"/>
                </a:solidFill>
                <a:latin typeface="Segoe UI"/>
              </a:rPr>
              <a:t>ICommand sync + Task en el puerto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2369" y="2496312"/>
            <a:ext cx="3382397" cy="71323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0385" y="2551176"/>
            <a:ext cx="3126365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00" b="0" i="0">
                <a:solidFill>
                  <a:srgbClr val="CBD5E1"/>
                </a:solidFill>
                <a:latin typeface="Segoe UI"/>
              </a:rPr>
              <a:t>El PDF admite UniTask / Task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209544"/>
            <a:ext cx="3642582" cy="71323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3264408"/>
            <a:ext cx="338655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00" b="0" i="0">
                <a:solidFill>
                  <a:srgbClr val="CBD5E1"/>
                </a:solidFill>
                <a:latin typeface="Segoe UI"/>
              </a:rPr>
              <a:t>ShipModuleSO entra al cálculo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9510" y="3209544"/>
            <a:ext cx="4032859" cy="71323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7526" y="3264408"/>
            <a:ext cx="3776827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00" b="0" i="0">
                <a:solidFill>
                  <a:srgbClr val="CBD5E1"/>
                </a:solidFill>
                <a:latin typeface="Segoe UI"/>
              </a:rPr>
              <a:t>El dominio recibe ModuleDefinition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42369" y="3209544"/>
            <a:ext cx="3382397" cy="71323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70385" y="3264408"/>
            <a:ext cx="3126365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00" b="0" i="0">
                <a:solidFill>
                  <a:srgbClr val="CBD5E1"/>
                </a:solidFill>
                <a:latin typeface="Segoe UI"/>
              </a:rPr>
              <a:t>Dominio libre de UnityEngine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922776"/>
            <a:ext cx="3642582" cy="71323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3977639"/>
            <a:ext cx="338655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00" b="0" i="0">
                <a:solidFill>
                  <a:srgbClr val="CBD5E1"/>
                </a:solidFill>
                <a:latin typeface="Segoe UI"/>
              </a:rPr>
              <a:t>Slots validan el tipo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9510" y="3922776"/>
            <a:ext cx="4032859" cy="71323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37526" y="3977639"/>
            <a:ext cx="3776827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00" b="0" i="0">
                <a:solidFill>
                  <a:srgbClr val="CBD5E1"/>
                </a:solidFill>
                <a:latin typeface="Segoe UI"/>
              </a:rPr>
              <a:t>Un slot por tipo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2369" y="3922776"/>
            <a:ext cx="3382397" cy="71323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0385" y="3977639"/>
            <a:ext cx="3126365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00" b="0" i="0">
                <a:solidFill>
                  <a:srgbClr val="CBD5E1"/>
                </a:solidFill>
                <a:latin typeface="Segoe UI"/>
              </a:rPr>
              <a:t>El estado inválido se elimina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636008"/>
            <a:ext cx="3642582" cy="71323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4690872"/>
            <a:ext cx="338655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00" b="0" i="0">
                <a:solidFill>
                  <a:srgbClr val="CBD5E1"/>
                </a:solidFill>
                <a:latin typeface="Segoe UI"/>
              </a:rPr>
              <a:t>FSM con estados por acción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09510" y="4636008"/>
            <a:ext cx="4032859" cy="71323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37526" y="4690872"/>
            <a:ext cx="3776827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00" b="0" i="0">
                <a:solidFill>
                  <a:srgbClr val="CBD5E1"/>
                </a:solidFill>
                <a:latin typeface="Segoe UI"/>
              </a:rPr>
              <a:t>Tres fases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42369" y="4636008"/>
            <a:ext cx="3382397" cy="71323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70385" y="4690872"/>
            <a:ext cx="3126365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200" b="0" i="0">
                <a:solidFill>
                  <a:srgbClr val="CBD5E1"/>
                </a:solidFill>
                <a:latin typeface="Segoe UI"/>
              </a:rPr>
              <a:t>Evitar explosión de combinaciones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5925312"/>
            <a:ext cx="11057839" cy="475488"/>
          </a:xfrm>
          <a:prstGeom prst="roundRect">
            <a:avLst>
              <a:gd name="adj" fmla="val 12000"/>
            </a:avLst>
          </a:prstGeom>
          <a:solidFill>
            <a:srgbClr val="24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566928" y="5925312"/>
            <a:ext cx="54864" cy="475488"/>
          </a:xfrm>
          <a:prstGeom prst="round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" y="5925312"/>
            <a:ext cx="106006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Ningún cambio altera qué resuelve cada prototipo: cambian cómo se respeta la regla de dependencia.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382512"/>
            <a:ext cx="54864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>
                <a:solidFill>
                  <a:srgbClr val="475569"/>
                </a:solidFill>
                <a:latin typeface="Segoe UI"/>
              </a:rPr>
              <a:t>18/21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6304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ADE80"/>
                </a:solidFill>
                <a:latin typeface="Segoe U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874519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8FAFC"/>
                </a:solidFill>
                <a:latin typeface="Segoe UI"/>
              </a:rPr>
              <a:t>Tres problemas, tres soluciones,
tres suites que las verifican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291840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CBD5E1"/>
                </a:solidFill>
                <a:latin typeface="Segoe UI"/>
              </a:rPr>
              <a:t>Las propiedades se demuestran: ISP por reflexión, OCP con un comando nuevo, DIP con un fake.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5876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CBD5E1"/>
                </a:solidFill>
                <a:latin typeface="Segoe UI"/>
              </a:rPr>
              <a:t>Lo que no está, está afuera por decisión y con ruta de extensión.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709160"/>
            <a:ext cx="349300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66928" y="4709160"/>
            <a:ext cx="349300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DD4BF"/>
                </a:solidFill>
                <a:latin typeface="Consolas"/>
              </a:rPr>
              <a:t>P1_GridState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9392" y="4709160"/>
            <a:ext cx="349300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524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279392" y="4709160"/>
            <a:ext cx="349300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A78BFA"/>
                </a:solidFill>
                <a:latin typeface="Consolas"/>
              </a:rPr>
              <a:t>P2_CommandPipeline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91855" y="4709160"/>
            <a:ext cx="349300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524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991855" y="4709160"/>
            <a:ext cx="349300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BBF24"/>
                </a:solidFill>
                <a:latin typeface="Consolas"/>
              </a:rPr>
              <a:t>P3_Loadout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71500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22 tests verdes · tag tp2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87171"/>
                </a:solidFill>
                <a:latin typeface="Segoe UI"/>
              </a:rPr>
              <a:t>RESPALDO · SI PREGUNTAN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F8FAFC"/>
                </a:solidFill>
                <a:latin typeface="Segoe UI"/>
              </a:rPr>
              <a:t>Mutation demo: rompo una línea y el test se pone rojo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83080"/>
            <a:ext cx="1638198" cy="822960"/>
          </a:xfrm>
          <a:prstGeom prst="rect">
            <a:avLst/>
          </a:prstGeom>
          <a:solidFill>
            <a:srgbClr val="24334A"/>
          </a:solidFill>
          <a:ln w="952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837943"/>
            <a:ext cx="1382166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Prototipo</a:t>
            </a:r>
          </a:p>
        </p:txBody>
      </p:sp>
      <p:sp>
        <p:nvSpPr>
          <p:cNvPr id="7" name="Rectangle 6"/>
          <p:cNvSpPr/>
          <p:nvPr/>
        </p:nvSpPr>
        <p:spPr>
          <a:xfrm>
            <a:off x="2205126" y="1783080"/>
            <a:ext cx="4505045" cy="822960"/>
          </a:xfrm>
          <a:prstGeom prst="rect">
            <a:avLst/>
          </a:prstGeom>
          <a:solidFill>
            <a:srgbClr val="24334A"/>
          </a:solidFill>
          <a:ln w="952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33142" y="1837943"/>
            <a:ext cx="424901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Línea que rompo</a:t>
            </a:r>
          </a:p>
        </p:txBody>
      </p:sp>
      <p:sp>
        <p:nvSpPr>
          <p:cNvPr id="9" name="Rectangle 8"/>
          <p:cNvSpPr/>
          <p:nvPr/>
        </p:nvSpPr>
        <p:spPr>
          <a:xfrm>
            <a:off x="6710172" y="1783080"/>
            <a:ext cx="4914595" cy="822960"/>
          </a:xfrm>
          <a:prstGeom prst="rect">
            <a:avLst/>
          </a:prstGeom>
          <a:solidFill>
            <a:srgbClr val="24334A"/>
          </a:solidFill>
          <a:ln w="952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38187" y="1837943"/>
            <a:ext cx="465856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Test que falla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606040"/>
            <a:ext cx="1638198" cy="8229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660904"/>
            <a:ext cx="1382166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P1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05126" y="2606040"/>
            <a:ext cx="4505045" cy="8229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33142" y="2660904"/>
            <a:ext cx="424901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Emitir el evento aunque el valor no cambie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10172" y="2606040"/>
            <a:ext cx="4914595" cy="8229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8187" y="2660904"/>
            <a:ext cx="465856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SetCell_WithSameValue_DoesNotRaiseChange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429000"/>
            <a:ext cx="1638198" cy="8229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3483864"/>
            <a:ext cx="1382166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P2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05126" y="3429000"/>
            <a:ext cx="4505045" cy="8229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3142" y="3483864"/>
            <a:ext cx="424901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Esperar la animación antes de mutar el estado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10172" y="3429000"/>
            <a:ext cx="4914595" cy="8229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8187" y="3483864"/>
            <a:ext cx="465856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Submit_AppliesLogicBeforeTheAnimation…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251960"/>
            <a:ext cx="1638198" cy="8229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" y="4306824"/>
            <a:ext cx="1382166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P3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05126" y="4251960"/>
            <a:ext cx="4505045" cy="8229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33142" y="4306824"/>
            <a:ext cx="424901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Sumar el módulo anterior y el nuevo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10172" y="4251960"/>
            <a:ext cx="4914595" cy="8229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38187" y="4306824"/>
            <a:ext cx="465856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TryEquip_ReplacingModule_DoesNotDoubleCount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892040"/>
            <a:ext cx="11057839" cy="694944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86384" y="5093208"/>
            <a:ext cx="106189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200" b="0" i="0">
                <a:solidFill>
                  <a:srgbClr val="94A3B8"/>
                </a:solidFill>
                <a:latin typeface="Consolas"/>
              </a:rPr>
              <a:t># git stash  →  editar una línea  →  correr el test  →  mostrar rojo  →  git checkout 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DD4BF"/>
                </a:solidFill>
                <a:latin typeface="Segoe UI"/>
              </a:rPr>
              <a:t>RESPALDO · SI PREGUNTAN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F8FAFC"/>
                </a:solidFill>
                <a:latin typeface="Segoe UI"/>
              </a:rPr>
              <a:t>Contratos y decisiones de código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83080"/>
            <a:ext cx="3252305" cy="749808"/>
          </a:xfrm>
          <a:prstGeom prst="rect">
            <a:avLst/>
          </a:prstGeom>
          <a:solidFill>
            <a:srgbClr val="24334A"/>
          </a:solidFill>
          <a:ln w="952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837943"/>
            <a:ext cx="2996273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Pregunta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9233" y="1783080"/>
            <a:ext cx="7805533" cy="749808"/>
          </a:xfrm>
          <a:prstGeom prst="rect">
            <a:avLst/>
          </a:prstGeom>
          <a:solidFill>
            <a:srgbClr val="24334A"/>
          </a:solidFill>
          <a:ln w="952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47249" y="1837943"/>
            <a:ext cx="7549501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94A3B8"/>
                </a:solidFill>
                <a:latin typeface="Segoe UI"/>
              </a:rPr>
              <a:t>Respuesta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532888"/>
            <a:ext cx="3252305" cy="74980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587752"/>
            <a:ext cx="2996273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¿Cuándo usás excepciones?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19233" y="2532888"/>
            <a:ext cx="7805533" cy="74980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47249" y="2587752"/>
            <a:ext cx="7549501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Solo precondiciones rotas (catálogo null). Un estado inválido es un resultado con motivo.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282696"/>
            <a:ext cx="3252305" cy="74980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3337560"/>
            <a:ext cx="2996273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¿Por qué no null para ausencia?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19233" y="3282696"/>
            <a:ext cx="7805533" cy="74980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47249" y="3337560"/>
            <a:ext cx="7549501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TryGetModule(out …) obliga a manejarla; null explota lejos del origen.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032504"/>
            <a:ext cx="3252305" cy="74980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4087368"/>
            <a:ext cx="2996273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¿Quién puede mutar?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19233" y="4032504"/>
            <a:ext cx="7805533" cy="74980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47249" y="4087368"/>
            <a:ext cx="7549501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GridModel el mapa, CommandProcessor la nave, EquipmentService el loadout. Nadie más.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782312"/>
            <a:ext cx="3252305" cy="74980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" y="4837175"/>
            <a:ext cx="2996273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¿Por qué estructuras inmutables?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19233" y="4782312"/>
            <a:ext cx="7805533" cy="74980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47249" y="4837175"/>
            <a:ext cx="7549501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Permiten comparar antes/después y razonar sobre undo sin deriva.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925312"/>
            <a:ext cx="11057839" cy="475488"/>
          </a:xfrm>
          <a:prstGeom prst="roundRect">
            <a:avLst>
              <a:gd name="adj" fmla="val 12000"/>
            </a:avLst>
          </a:prstGeom>
          <a:solidFill>
            <a:srgbClr val="24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66928" y="5925312"/>
            <a:ext cx="54864" cy="475488"/>
          </a:xfrm>
          <a:prstGeom prst="round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925312"/>
            <a:ext cx="106006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La consigna evalúa decisiones, no cantidad de patrones.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A78BFA"/>
                </a:solidFill>
                <a:latin typeface="Segoe UI"/>
              </a:rPr>
              <a:t>RESPALDO · SI PREGUNTAN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578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 i="0">
                <a:solidFill>
                  <a:srgbClr val="F8FAFC"/>
                </a:solidFill>
                <a:latin typeface="Segoe UI"/>
              </a:rPr>
              <a:t>Cómo se reproduce todo en 4 comandos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81328"/>
            <a:ext cx="777240" cy="50292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783080"/>
            <a:ext cx="11057839" cy="2551176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86384" y="1984248"/>
            <a:ext cx="10618927" cy="2112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200" b="0" i="0">
                <a:solidFill>
                  <a:srgbClr val="4ADE80"/>
                </a:solidFill>
                <a:latin typeface="Consolas"/>
              </a:rPr>
              <a:t>$unity = "C:\Program Files\Unity\Hub\Editor\6000.5.9f1\Editor\Unity.exe"</a:t>
            </a:r>
          </a:p>
          <a:p>
            <a:pPr>
              <a:lnSpc>
                <a:spcPct val="100000"/>
              </a:lnSpc>
            </a:pPr>
            <a:r>
              <a:rPr sz="1200" b="0" i="0">
                <a:solidFill>
                  <a:srgbClr val="4ADE80"/>
                </a:solidFill>
                <a:latin typeface="Consolas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 i="0">
                <a:solidFill>
                  <a:srgbClr val="4ADE80"/>
                </a:solidFill>
                <a:latin typeface="Consolas"/>
              </a:rPr>
              <a:t>&amp; $unity -batchmode -nographics -projectPath . -runTests `</a:t>
            </a:r>
          </a:p>
          <a:p>
            <a:pPr>
              <a:lnSpc>
                <a:spcPct val="100000"/>
              </a:lnSpc>
            </a:pPr>
            <a:r>
              <a:rPr sz="1200" b="0" i="0">
                <a:solidFill>
                  <a:srgbClr val="4ADE80"/>
                </a:solidFill>
                <a:latin typeface="Consolas"/>
              </a:rPr>
              <a:t>    -testPlatform EditMode -testResults Logs/editmode-results.xml -quit</a:t>
            </a:r>
          </a:p>
          <a:p>
            <a:pPr>
              <a:lnSpc>
                <a:spcPct val="100000"/>
              </a:lnSpc>
            </a:pPr>
            <a:r>
              <a:rPr sz="1200" b="0" i="0">
                <a:solidFill>
                  <a:srgbClr val="4ADE80"/>
                </a:solidFill>
                <a:latin typeface="Consolas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 i="0">
                <a:solidFill>
                  <a:srgbClr val="4ADE80"/>
                </a:solidFill>
                <a:latin typeface="Consolas"/>
              </a:rPr>
              <a:t>&amp; $unity -batchmode -nographics -projectPath . -runTests `</a:t>
            </a:r>
          </a:p>
          <a:p>
            <a:pPr>
              <a:lnSpc>
                <a:spcPct val="100000"/>
              </a:lnSpc>
            </a:pPr>
            <a:r>
              <a:rPr sz="1200" b="0" i="0">
                <a:solidFill>
                  <a:srgbClr val="4ADE80"/>
                </a:solidFill>
                <a:latin typeface="Consolas"/>
              </a:rPr>
              <a:t>    -testPlatform PlayMode -testResults Logs/playmode-results.xml -quit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526280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CBD5E1"/>
                </a:solidFill>
                <a:latin typeface="Segoe UI"/>
              </a:rPr>
              <a:t>En el editor:  VoidHex → Build Prototype Scenes   ·   Window → General → Test Runner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925312"/>
            <a:ext cx="11057839" cy="475488"/>
          </a:xfrm>
          <a:prstGeom prst="roundRect">
            <a:avLst>
              <a:gd name="adj" fmla="val 12000"/>
            </a:avLst>
          </a:prstGeom>
          <a:solidFill>
            <a:srgbClr val="24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66928" y="5925312"/>
            <a:ext cx="54864" cy="475488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925312"/>
            <a:ext cx="106006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Sin pasos manuales: la suite pasa en un proyecto recién clonado.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